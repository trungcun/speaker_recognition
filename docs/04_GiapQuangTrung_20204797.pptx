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9" r:id="rId5"/>
    <p:sldId id="257" r:id="rId6"/>
    <p:sldId id="269" r:id="rId7"/>
    <p:sldId id="260" r:id="rId8"/>
    <p:sldId id="292" r:id="rId9"/>
    <p:sldId id="303" r:id="rId10"/>
    <p:sldId id="271" r:id="rId11"/>
    <p:sldId id="304" r:id="rId12"/>
    <p:sldId id="305" r:id="rId13"/>
    <p:sldId id="306" r:id="rId14"/>
    <p:sldId id="276" r:id="rId15"/>
    <p:sldId id="273" r:id="rId16"/>
    <p:sldId id="293" r:id="rId17"/>
    <p:sldId id="277" r:id="rId18"/>
    <p:sldId id="279" r:id="rId19"/>
    <p:sldId id="280" r:id="rId20"/>
    <p:sldId id="281" r:id="rId21"/>
    <p:sldId id="301" r:id="rId22"/>
    <p:sldId id="295" r:id="rId23"/>
    <p:sldId id="286" r:id="rId24"/>
    <p:sldId id="299" r:id="rId25"/>
    <p:sldId id="302" r:id="rId26"/>
    <p:sldId id="287" r:id="rId27"/>
    <p:sldId id="288" r:id="rId28"/>
    <p:sldId id="289" r:id="rId29"/>
    <p:sldId id="290" r:id="rId30"/>
    <p:sldId id="26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9934B-4434-25E9-F842-3ABD8545C6C7}" v="126" dt="2025-03-30T15:44:31.297"/>
    <p1510:client id="{9A60E118-1709-3AFB-51F1-034F34ECD3A3}" v="11" dt="2025-03-31T13:36:39.368"/>
    <p1510:client id="{C3B34708-A68E-79D7-9CBE-56A1022E4595}" v="267" dt="2025-03-31T13:17:40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7/9/2025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kobovski/free-spoken-digit-dataset" TargetMode="External"/><Relationship Id="rId2" Type="http://schemas.openxmlformats.org/officeDocument/2006/relationships/hyperlink" Target="https://github.com/soerenab/AudioMNIS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ongaevans/speaker-recognition-dataset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463939" y="1976457"/>
            <a:ext cx="8866482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 err="1">
                <a:latin typeface="Lato"/>
                <a:ea typeface="Lato"/>
                <a:cs typeface="Lato"/>
              </a:rPr>
              <a:t>Nhận</a:t>
            </a:r>
            <a:r>
              <a:rPr lang="en-US" sz="4800" dirty="0">
                <a:latin typeface="Lato"/>
                <a:ea typeface="Lato"/>
                <a:cs typeface="Lato"/>
              </a:rPr>
              <a:t> </a:t>
            </a:r>
            <a:r>
              <a:rPr lang="en-US" sz="4800" dirty="0" err="1">
                <a:latin typeface="Lato"/>
                <a:ea typeface="Lato"/>
                <a:cs typeface="Lato"/>
              </a:rPr>
              <a:t>dạng</a:t>
            </a:r>
            <a:r>
              <a:rPr lang="en-US" sz="4800" dirty="0">
                <a:latin typeface="Lato"/>
                <a:ea typeface="Lato"/>
                <a:cs typeface="Lato"/>
              </a:rPr>
              <a:t> </a:t>
            </a:r>
            <a:r>
              <a:rPr lang="en-US" sz="4800" dirty="0" err="1">
                <a:latin typeface="Lato"/>
                <a:ea typeface="Lato"/>
                <a:cs typeface="Lato"/>
              </a:rPr>
              <a:t>người</a:t>
            </a:r>
            <a:r>
              <a:rPr lang="en-US" sz="4800" dirty="0">
                <a:latin typeface="Lato"/>
                <a:ea typeface="Lato"/>
                <a:cs typeface="Lato"/>
              </a:rPr>
              <a:t> </a:t>
            </a:r>
            <a:r>
              <a:rPr lang="en-US" sz="4800" dirty="0" err="1">
                <a:latin typeface="Lato"/>
                <a:ea typeface="Lato"/>
                <a:cs typeface="Lato"/>
              </a:rPr>
              <a:t>nói</a:t>
            </a:r>
            <a:r>
              <a:rPr lang="en-US" sz="4800" dirty="0">
                <a:latin typeface="Lato"/>
                <a:ea typeface="Lato"/>
                <a:cs typeface="Lato"/>
              </a:rPr>
              <a:t> </a:t>
            </a:r>
            <a:r>
              <a:rPr lang="en-US" sz="4800" dirty="0" err="1">
                <a:latin typeface="Lato"/>
                <a:ea typeface="Lato"/>
                <a:cs typeface="Lato"/>
              </a:rPr>
              <a:t>thông</a:t>
            </a:r>
            <a:r>
              <a:rPr lang="en-US" sz="4800" dirty="0">
                <a:latin typeface="Lato"/>
                <a:ea typeface="Lato"/>
                <a:cs typeface="Lato"/>
              </a:rPr>
              <a:t> qua vector </a:t>
            </a:r>
            <a:r>
              <a:rPr lang="en-US" sz="4800" dirty="0" err="1">
                <a:latin typeface="Lato"/>
                <a:ea typeface="Lato"/>
                <a:cs typeface="Lato"/>
              </a:rPr>
              <a:t>đặc</a:t>
            </a:r>
            <a:r>
              <a:rPr lang="en-US" sz="4800" dirty="0">
                <a:latin typeface="Lato"/>
                <a:ea typeface="Lato"/>
                <a:cs typeface="Lato"/>
              </a:rPr>
              <a:t> </a:t>
            </a:r>
            <a:r>
              <a:rPr lang="en-US" sz="4800" dirty="0" err="1">
                <a:latin typeface="Lato"/>
                <a:ea typeface="Lato"/>
                <a:cs typeface="Lato"/>
              </a:rPr>
              <a:t>trưng</a:t>
            </a:r>
            <a:r>
              <a:rPr lang="en-US" sz="4800" dirty="0">
                <a:latin typeface="Lato"/>
                <a:ea typeface="Lato"/>
                <a:cs typeface="Lato"/>
              </a:rPr>
              <a:t> </a:t>
            </a:r>
            <a:r>
              <a:rPr lang="vi-VN" sz="4800" dirty="0">
                <a:latin typeface="Lato"/>
                <a:ea typeface="Lato"/>
                <a:cs typeface="Lato"/>
              </a:rPr>
              <a:t>kết hợp </a:t>
            </a:r>
          </a:p>
          <a:p>
            <a:r>
              <a:rPr lang="vi-VN" sz="4800" dirty="0">
                <a:latin typeface="Lato"/>
                <a:ea typeface="Lato"/>
                <a:cs typeface="Lato"/>
              </a:rPr>
              <a:t>mạng </a:t>
            </a:r>
            <a:r>
              <a:rPr lang="vi-VN" sz="4800" dirty="0" err="1">
                <a:latin typeface="Lato"/>
                <a:ea typeface="Lato"/>
                <a:cs typeface="Lato"/>
              </a:rPr>
              <a:t>neural</a:t>
            </a:r>
            <a:r>
              <a:rPr lang="vi-VN" sz="4800" dirty="0">
                <a:latin typeface="Lato"/>
                <a:ea typeface="Lato"/>
                <a:cs typeface="Lato"/>
              </a:rPr>
              <a:t> tích chập</a:t>
            </a:r>
            <a:endParaRPr lang="en-US" dirty="0">
              <a:latin typeface="Lato"/>
              <a:ea typeface="Lato"/>
              <a:cs typeface="Lato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926055" y="4501730"/>
            <a:ext cx="8522745" cy="1095786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3000" b="0" dirty="0">
                <a:latin typeface="Lato"/>
                <a:ea typeface="Lato"/>
                <a:cs typeface="Lato"/>
              </a:rPr>
              <a:t>Giáp Quang Trung – 20204797</a:t>
            </a:r>
          </a:p>
          <a:p>
            <a:r>
              <a:rPr lang="vi-VN" sz="3000" b="0" dirty="0"/>
              <a:t>Giảng viên hướng dẫn: TS. Nguyễn Đình Thuận</a:t>
            </a:r>
            <a:endParaRPr lang="en-US" sz="30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07C0C7-D16D-B950-B028-E9FF6B0FE27C}"/>
              </a:ext>
            </a:extLst>
          </p:cNvPr>
          <p:cNvSpPr txBox="1"/>
          <p:nvPr/>
        </p:nvSpPr>
        <p:spPr>
          <a:xfrm>
            <a:off x="-997458" y="0"/>
            <a:ext cx="6664098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Lato"/>
                <a:ea typeface="Lato"/>
                <a:cs typeface="Lato"/>
                <a:sym typeface="Times New Roman"/>
              </a:rPr>
              <a:t>NỘI DUNG TRÌNH BÀY</a:t>
            </a:r>
            <a:endParaRPr lang="en-US" sz="3200" b="1" dirty="0"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E49604-8133-E14E-6418-70BAECC1A4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13023" y="2055550"/>
            <a:ext cx="6209403" cy="2758475"/>
          </a:xfrm>
        </p:spPr>
        <p:txBody>
          <a:bodyPr lIns="91440" tIns="45720" rIns="91440" bIns="45720" anchor="t"/>
          <a:lstStyle/>
          <a:p>
            <a:pPr marL="514350" indent="-514350">
              <a:buAutoNum type="arabicPeriod"/>
            </a:pPr>
            <a:r>
              <a:rPr lang="vi-VN" sz="3200" b="1" dirty="0">
                <a:latin typeface="Lato"/>
                <a:ea typeface="Lato"/>
                <a:cs typeface="Lato"/>
              </a:rPr>
              <a:t>Giới thiệu đề tài</a:t>
            </a:r>
          </a:p>
          <a:p>
            <a:pPr marL="514350" indent="-514350">
              <a:buAutoNum type="arabicPeriod"/>
            </a:pPr>
            <a:r>
              <a:rPr lang="vi-VN" sz="3200" b="1" dirty="0">
                <a:latin typeface="Lato"/>
                <a:ea typeface="Lato"/>
                <a:cs typeface="Lato"/>
              </a:rPr>
              <a:t>Nền tảng lý thuyết</a:t>
            </a:r>
          </a:p>
          <a:p>
            <a:pPr marL="514350" indent="-514350">
              <a:buAutoNum type="arabicPeriod"/>
            </a:pPr>
            <a:r>
              <a:rPr lang="vi-VN" sz="3200" b="1" dirty="0">
                <a:latin typeface="Lato"/>
                <a:ea typeface="Lato"/>
                <a:cs typeface="Lato"/>
              </a:rPr>
              <a:t>Phương pháp đề xuất</a:t>
            </a:r>
          </a:p>
          <a:p>
            <a:pPr marL="514350" indent="-514350">
              <a:buAutoNum type="arabicPeriod"/>
            </a:pPr>
            <a:r>
              <a:rPr lang="en-US" sz="3200" b="1" dirty="0">
                <a:latin typeface="Lato"/>
                <a:ea typeface="Lato"/>
                <a:cs typeface="Lato"/>
              </a:rPr>
              <a:t>T</a:t>
            </a:r>
            <a:r>
              <a:rPr lang="vi-VN" sz="3200" b="1" dirty="0">
                <a:latin typeface="Lato"/>
                <a:ea typeface="Lato"/>
                <a:cs typeface="Lato"/>
              </a:rPr>
              <a:t>hực nghiệm</a:t>
            </a:r>
            <a:r>
              <a:rPr lang="en-US" sz="3200" b="1" dirty="0">
                <a:latin typeface="Lato"/>
                <a:ea typeface="Lato"/>
                <a:cs typeface="Lato"/>
              </a:rPr>
              <a:t> </a:t>
            </a:r>
            <a:r>
              <a:rPr lang="vi-VN" sz="3200" b="1" dirty="0">
                <a:latin typeface="Lato"/>
                <a:ea typeface="Lato"/>
                <a:cs typeface="Lato"/>
              </a:rPr>
              <a:t>và đánh giá</a:t>
            </a:r>
          </a:p>
          <a:p>
            <a:pPr marL="514350" indent="-514350">
              <a:buAutoNum type="arabicPeriod"/>
            </a:pPr>
            <a:r>
              <a:rPr lang="vi-VN" sz="3200" b="1" dirty="0">
                <a:latin typeface="Lato"/>
                <a:ea typeface="Lato"/>
                <a:cs typeface="Lato"/>
              </a:rPr>
              <a:t>Kết luận</a:t>
            </a:r>
            <a:endParaRPr lang="en-US" sz="3200" b="1" dirty="0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46673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166280"/>
            <a:ext cx="11514528" cy="436098"/>
          </a:xfrm>
        </p:spPr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1: GIỚI THIỆU ĐỀ TÀI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633" y="1330479"/>
            <a:ext cx="5968657" cy="2134441"/>
          </a:xfrm>
        </p:spPr>
        <p:txBody>
          <a:bodyPr lIns="91440" tIns="45720" rIns="91440" bIns="45720" anchor="t"/>
          <a:lstStyle/>
          <a:p>
            <a:r>
              <a:rPr lang="vi-VN" sz="2000" dirty="0"/>
              <a:t>Nhận dạng người nói là một kỹ thuật nhận dạng sinh trắc học.</a:t>
            </a:r>
          </a:p>
          <a:p>
            <a:r>
              <a:rPr lang="vi-VN" sz="2000" dirty="0"/>
              <a:t>Xác định người nói dựa trên tín hiệu âm thanh được người nói cung cấp.</a:t>
            </a:r>
          </a:p>
          <a:p>
            <a:r>
              <a:rPr lang="vi-VN" sz="2000" dirty="0"/>
              <a:t>Mang những ưu điểm: dễ triển khai, thu thập dữ liệu, thiết bị phần cứng đơn giản.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 descr="A diagram of a person with a computer&#10;&#10;AI-generated content may be incorrect.">
            <a:extLst>
              <a:ext uri="{FF2B5EF4-FFF2-40B4-BE49-F238E27FC236}">
                <a16:creationId xmlns:a16="http://schemas.microsoft.com/office/drawing/2014/main" id="{B3FCBD19-3130-A44C-7CCB-DF1270E89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31" y="1868129"/>
            <a:ext cx="5489079" cy="273244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7952F4-B3BD-38F9-97D2-16A94C083B9A}"/>
              </a:ext>
            </a:extLst>
          </p:cNvPr>
          <p:cNvSpPr txBox="1">
            <a:spLocks/>
          </p:cNvSpPr>
          <p:nvPr/>
        </p:nvSpPr>
        <p:spPr>
          <a:xfrm>
            <a:off x="520633" y="3752551"/>
            <a:ext cx="7531986" cy="179417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vi-VN" sz="2400" b="1" dirty="0"/>
              <a:t>Phân loại:</a:t>
            </a:r>
          </a:p>
          <a:p>
            <a:r>
              <a:rPr lang="vi-VN" sz="2000" dirty="0"/>
              <a:t> Tác vụ: I</a:t>
            </a:r>
            <a:r>
              <a:rPr lang="en-US" sz="2000" dirty="0"/>
              <a:t>dentification (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400" dirty="0" err="1"/>
              <a:t>dạng</a:t>
            </a:r>
            <a:r>
              <a:rPr lang="en-US" sz="2000" dirty="0"/>
              <a:t>)</a:t>
            </a:r>
            <a:r>
              <a:rPr lang="vi-VN" sz="2000" dirty="0"/>
              <a:t> và V</a:t>
            </a:r>
            <a:r>
              <a:rPr lang="en-US" sz="2000" dirty="0" err="1"/>
              <a:t>erification</a:t>
            </a:r>
            <a:r>
              <a:rPr lang="en-US" sz="2000" dirty="0"/>
              <a:t> (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minh</a:t>
            </a:r>
            <a:r>
              <a:rPr lang="en-US" sz="2000" dirty="0"/>
              <a:t>)</a:t>
            </a:r>
            <a:endParaRPr lang="vi-VN" sz="2000" dirty="0"/>
          </a:p>
          <a:p>
            <a:r>
              <a:rPr lang="vi-VN" sz="2000" dirty="0"/>
              <a:t>Phương pháp: T</a:t>
            </a:r>
            <a:r>
              <a:rPr lang="en-US" sz="2000" dirty="0" err="1"/>
              <a:t>ext</a:t>
            </a:r>
            <a:r>
              <a:rPr lang="en-US" sz="2000" dirty="0"/>
              <a:t>-dependent (</a:t>
            </a:r>
            <a:r>
              <a:rPr lang="vi-VN" sz="2000" dirty="0"/>
              <a:t>phụ thuộc văn bản</a:t>
            </a:r>
            <a:r>
              <a:rPr lang="en-US" sz="2000" dirty="0"/>
              <a:t>)</a:t>
            </a:r>
            <a:r>
              <a:rPr lang="vi-VN" sz="2000" dirty="0"/>
              <a:t> và </a:t>
            </a:r>
            <a:r>
              <a:rPr lang="vi-VN" sz="2000" dirty="0" err="1"/>
              <a:t>Text</a:t>
            </a:r>
            <a:r>
              <a:rPr lang="vi-VN" sz="2000" dirty="0"/>
              <a:t>-</a:t>
            </a:r>
            <a:r>
              <a:rPr lang="en-US" sz="2000" dirty="0"/>
              <a:t>independent</a:t>
            </a:r>
            <a:r>
              <a:rPr lang="vi-VN" sz="2000" dirty="0"/>
              <a:t> (không phụ thuộc văn bản)</a:t>
            </a:r>
          </a:p>
          <a:p>
            <a:endParaRPr lang="vi-VN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5BFD6-6263-D741-5C7B-F0D7DFCA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23520-EAF6-0D44-68F2-EAB56C7C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078" y="148922"/>
            <a:ext cx="11514528" cy="436098"/>
          </a:xfrm>
        </p:spPr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1: GIỚI THIỆU ĐỀ TÀI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51B4E-A15A-7579-4F09-A6C241BC0B5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1974" y="1868129"/>
            <a:ext cx="5968657" cy="4185418"/>
          </a:xfrm>
        </p:spPr>
        <p:txBody>
          <a:bodyPr lIns="91440" tIns="45720" rIns="91440" bIns="45720" anchor="t"/>
          <a:lstStyle/>
          <a:p>
            <a:r>
              <a:rPr lang="vi-VN" sz="2000" dirty="0"/>
              <a:t>Giải quyết bài toán nhận dạng theo hướng phụ thuộc văn bản</a:t>
            </a:r>
          </a:p>
          <a:p>
            <a:pPr marL="0" indent="0">
              <a:buNone/>
            </a:pPr>
            <a:endParaRPr lang="vi-VN" sz="2000" dirty="0"/>
          </a:p>
          <a:p>
            <a:r>
              <a:rPr lang="vi-VN" sz="2000" dirty="0"/>
              <a:t>Nội dung giọng nói dựa trên các phát âm chữ số từ 0 đến 9 bằng tiếng anh.</a:t>
            </a:r>
          </a:p>
          <a:p>
            <a:pPr marL="0" indent="0">
              <a:buNone/>
            </a:pPr>
            <a:endParaRPr lang="vi-VN" sz="2000" dirty="0"/>
          </a:p>
          <a:p>
            <a:r>
              <a:rPr lang="vi-VN" sz="2000" dirty="0"/>
              <a:t>Sử dụng mạng </a:t>
            </a:r>
            <a:r>
              <a:rPr lang="vi-VN" sz="2000" dirty="0" err="1"/>
              <a:t>neural</a:t>
            </a:r>
            <a:r>
              <a:rPr lang="vi-VN" sz="2000" dirty="0"/>
              <a:t> tích chập vào quá trình nhận dạng. </a:t>
            </a:r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5DEF0-29BB-C3A7-8D00-830FB938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6" descr="A diagram of a person with a computer&#10;&#10;AI-generated content may be incorrect.">
            <a:extLst>
              <a:ext uri="{FF2B5EF4-FFF2-40B4-BE49-F238E27FC236}">
                <a16:creationId xmlns:a16="http://schemas.microsoft.com/office/drawing/2014/main" id="{1B6CE258-80BF-1E39-F88D-BD092ADBC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31" y="1868129"/>
            <a:ext cx="5489079" cy="273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71711-28AF-A516-F222-02D9769E9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22A2C-0305-921B-05D8-E9E0EA873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2: CƠ SỞ LÝ THUYẾT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8B05-3194-965D-31DC-1C867B40A4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7" y="1058844"/>
            <a:ext cx="4931354" cy="490912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400" dirty="0">
                <a:latin typeface="Lato"/>
                <a:ea typeface="Lato"/>
                <a:cs typeface="Lato"/>
              </a:rPr>
              <a:t>MFCC (Mel frequency cepstral coefficients)</a:t>
            </a:r>
            <a:r>
              <a:rPr lang="vi-VN" sz="2400" dirty="0">
                <a:latin typeface="Lato"/>
                <a:ea typeface="Lato"/>
                <a:cs typeface="Lato"/>
              </a:rPr>
              <a:t>: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Là một phương pháp trích xuất đặc trưng được sử dụng trong các bài toán liên quan đến giọng nói.</a:t>
            </a:r>
          </a:p>
          <a:p>
            <a:endParaRPr lang="en-US" sz="2000" dirty="0">
              <a:latin typeface="Lato"/>
              <a:ea typeface="Lato"/>
              <a:cs typeface="Lato"/>
            </a:endParaRPr>
          </a:p>
          <a:p>
            <a:pPr marL="0" indent="0">
              <a:buNone/>
            </a:pP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endParaRPr lang="en-US" sz="20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A23F8-6DD0-E8F0-7104-1D9B06C0C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 descr="A diagram of a device&#10;&#10;AI-generated content may be incorrect.">
            <a:extLst>
              <a:ext uri="{FF2B5EF4-FFF2-40B4-BE49-F238E27FC236}">
                <a16:creationId xmlns:a16="http://schemas.microsoft.com/office/drawing/2014/main" id="{3CF2CAAC-6D8D-DED5-8FC2-6642769EA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846" y="2202425"/>
            <a:ext cx="7101664" cy="4349975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9A5A18A3-9FEE-63B6-D6E7-4144E218E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367" y="1492964"/>
            <a:ext cx="2426043" cy="163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66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BC8E-0665-C3D0-E5B9-431B0161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C15C-F6FE-47EB-2390-B8BED395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2: CƠ SỞ LÝ THUYẾT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743F7-33F5-D8B3-A754-239A44E262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6534012" cy="490912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400" dirty="0">
                <a:latin typeface="Lato"/>
                <a:ea typeface="Lato"/>
                <a:cs typeface="Lato"/>
              </a:rPr>
              <a:t>MFCC (Mel frequency cepstral coefficients)</a:t>
            </a:r>
            <a:r>
              <a:rPr lang="vi-VN" sz="2400" dirty="0">
                <a:latin typeface="Lato"/>
                <a:ea typeface="Lato"/>
                <a:cs typeface="Lato"/>
              </a:rPr>
              <a:t>: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Tín hiệu giọng nói x[n] được biến đổi sang miền tần số bằng </a:t>
            </a:r>
            <a:r>
              <a:rPr lang="vi-VN" sz="2000" dirty="0" err="1">
                <a:latin typeface="Lato"/>
                <a:ea typeface="Lato"/>
                <a:cs typeface="Lato"/>
              </a:rPr>
              <a:t>Discrete</a:t>
            </a: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r>
              <a:rPr lang="vi-VN" sz="2000" dirty="0" err="1">
                <a:latin typeface="Lato"/>
                <a:ea typeface="Lato"/>
                <a:cs typeface="Lato"/>
              </a:rPr>
              <a:t>Fourier</a:t>
            </a:r>
            <a:r>
              <a:rPr lang="vi-VN" sz="2000" dirty="0">
                <a:latin typeface="Lato"/>
                <a:ea typeface="Lato"/>
                <a:cs typeface="Lato"/>
              </a:rPr>
              <a:t>  </a:t>
            </a:r>
            <a:r>
              <a:rPr lang="vi-VN" sz="2000" dirty="0" err="1">
                <a:latin typeface="Lato"/>
                <a:ea typeface="Lato"/>
                <a:cs typeface="Lato"/>
              </a:rPr>
              <a:t>Transform</a:t>
            </a:r>
            <a:r>
              <a:rPr lang="vi-VN" sz="2000" dirty="0">
                <a:latin typeface="Lato"/>
                <a:ea typeface="Lato"/>
                <a:cs typeface="Lato"/>
              </a:rPr>
              <a:t>  (DFT). </a:t>
            </a:r>
            <a:endParaRPr lang="en-US" sz="2000" dirty="0">
              <a:latin typeface="Lato"/>
              <a:ea typeface="Lato"/>
              <a:cs typeface="Lato"/>
            </a:endParaRPr>
          </a:p>
          <a:p>
            <a:r>
              <a:rPr lang="vi-VN" sz="2000" dirty="0">
                <a:latin typeface="Lato"/>
                <a:ea typeface="Lato"/>
                <a:cs typeface="Lato"/>
              </a:rPr>
              <a:t> Tính toán năng lượng tín hiệu theo công thức:</a:t>
            </a:r>
            <a:endParaRPr lang="en-US" sz="20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93668-4C96-DEFD-9A2A-7B4A84C8A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A diagram of a device&#10;&#10;AI-generated content may be incorrect.">
            <a:extLst>
              <a:ext uri="{FF2B5EF4-FFF2-40B4-BE49-F238E27FC236}">
                <a16:creationId xmlns:a16="http://schemas.microsoft.com/office/drawing/2014/main" id="{E5E0814D-E013-54CC-0FE8-6D2209255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878" y="942807"/>
            <a:ext cx="3158834" cy="19348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9685A8-00AC-F062-3B94-09EF1EC762DE}"/>
              </a:ext>
            </a:extLst>
          </p:cNvPr>
          <p:cNvSpPr/>
          <p:nvPr/>
        </p:nvSpPr>
        <p:spPr>
          <a:xfrm>
            <a:off x="8986490" y="1431495"/>
            <a:ext cx="1248892" cy="61649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9CDCD103-471E-725E-0BAD-531A58DD0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08" y="2877684"/>
            <a:ext cx="2880610" cy="11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40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117FD-6734-AAE0-8A33-D2F87F01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87CA-76F1-C562-F3CB-81E4AAC8B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2: CƠ SỞ LÝ THUYẾT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7691F-F85B-91C4-6AD4-84D40616841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6534012" cy="4909124"/>
              </a:xfrm>
            </p:spPr>
            <p:txBody>
              <a:bodyPr lIns="91440" tIns="45720" rIns="91440" bIns="45720" anchor="t"/>
              <a:lstStyle/>
              <a:p>
                <a:pPr marL="0" indent="0">
                  <a:buNone/>
                </a:pPr>
                <a:r>
                  <a:rPr lang="en-US" sz="2400" dirty="0">
                    <a:latin typeface="Lato"/>
                    <a:ea typeface="Lato"/>
                    <a:cs typeface="Lato"/>
                  </a:rPr>
                  <a:t>MFCC (Mel frequency cepstral coefficients)</a:t>
                </a:r>
                <a:r>
                  <a:rPr lang="vi-VN" sz="2400" dirty="0">
                    <a:latin typeface="Lato"/>
                    <a:ea typeface="Lato"/>
                    <a:cs typeface="Lato"/>
                  </a:rPr>
                  <a:t>:</a:t>
                </a:r>
              </a:p>
              <a:p>
                <a:r>
                  <a:rPr lang="vi-VN" sz="2000" dirty="0">
                    <a:latin typeface="Lato"/>
                    <a:ea typeface="Lato"/>
                    <a:cs typeface="Lato"/>
                  </a:rPr>
                  <a:t>Xây dựng ngân hàng bộ lọc </a:t>
                </a:r>
                <a:r>
                  <a:rPr lang="vi-VN" sz="2000" dirty="0" err="1">
                    <a:latin typeface="Lato"/>
                    <a:ea typeface="Lato"/>
                    <a:cs typeface="Lato"/>
                  </a:rPr>
                  <a:t>Mel</a:t>
                </a:r>
                <a:r>
                  <a:rPr lang="vi-VN" sz="2000" dirty="0">
                    <a:latin typeface="Lato"/>
                    <a:ea typeface="Lato"/>
                    <a:cs typeface="Lato"/>
                  </a:rPr>
                  <a:t> (</a:t>
                </a:r>
                <a:r>
                  <a:rPr lang="vi-VN" sz="2000" dirty="0" err="1">
                    <a:latin typeface="Lato"/>
                    <a:ea typeface="Lato"/>
                    <a:cs typeface="Lato"/>
                  </a:rPr>
                  <a:t>mel</a:t>
                </a:r>
                <a:r>
                  <a:rPr lang="vi-VN" sz="2000" dirty="0">
                    <a:latin typeface="Lato"/>
                    <a:ea typeface="Lato"/>
                    <a:cs typeface="Lato"/>
                  </a:rPr>
                  <a:t> </a:t>
                </a:r>
                <a:r>
                  <a:rPr lang="vi-VN" sz="2000" dirty="0" err="1">
                    <a:latin typeface="Lato"/>
                    <a:ea typeface="Lato"/>
                    <a:cs typeface="Lato"/>
                  </a:rPr>
                  <a:t>filter</a:t>
                </a:r>
                <a:r>
                  <a:rPr lang="vi-VN" sz="2000" dirty="0">
                    <a:latin typeface="Lato"/>
                    <a:ea typeface="Lato"/>
                    <a:cs typeface="Lato"/>
                  </a:rPr>
                  <a:t> </a:t>
                </a:r>
                <a:r>
                  <a:rPr lang="vi-VN" sz="2000" dirty="0" err="1">
                    <a:latin typeface="Lato"/>
                    <a:ea typeface="Lato"/>
                    <a:cs typeface="Lato"/>
                  </a:rPr>
                  <a:t>bank</a:t>
                </a:r>
                <a:r>
                  <a:rPr lang="vi-VN" sz="2000" dirty="0">
                    <a:latin typeface="Lato"/>
                    <a:ea typeface="Lato"/>
                    <a:cs typeface="Lato"/>
                  </a:rPr>
                  <a:t>).</a:t>
                </a: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r>
                  <a:rPr lang="vi-VN" sz="2000" dirty="0">
                    <a:latin typeface="Lato"/>
                    <a:ea typeface="Lato"/>
                    <a:cs typeface="Lato"/>
                  </a:rPr>
                  <a:t>Số lượng bộ lọc mặc định thường là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F</m:t>
                        </m:r>
                      </m:sub>
                    </m:sSub>
                    <m:r>
                      <a:rPr lang="vi-VN" sz="2000" i="1">
                        <a:latin typeface="Cambria Math" panose="02040503050406030204" pitchFamily="18" charset="0"/>
                        <a:ea typeface="Lato"/>
                        <a:cs typeface="Lato"/>
                      </a:rPr>
                      <m:t> </m:t>
                    </m:r>
                  </m:oMath>
                </a14:m>
                <a:r>
                  <a:rPr lang="vi-VN" sz="2000" dirty="0">
                    <a:latin typeface="Lato"/>
                    <a:ea typeface="Lato"/>
                    <a:cs typeface="Lato"/>
                  </a:rPr>
                  <a:t>= 128.</a:t>
                </a:r>
              </a:p>
              <a:p>
                <a:pPr marL="0" indent="0">
                  <a:buNone/>
                </a:pPr>
                <a:endParaRPr lang="vi-VN" sz="2000" dirty="0">
                  <a:latin typeface="Lato"/>
                  <a:ea typeface="Lato"/>
                  <a:cs typeface="Lat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7691F-F85B-91C4-6AD4-84D4061684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6534012" cy="4909124"/>
              </a:xfrm>
              <a:blipFill>
                <a:blip r:embed="rId2"/>
                <a:stretch>
                  <a:fillRect l="-1494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025A0-8689-04D9-F24B-F6566266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A diagram of a device&#10;&#10;AI-generated content may be incorrect.">
            <a:extLst>
              <a:ext uri="{FF2B5EF4-FFF2-40B4-BE49-F238E27FC236}">
                <a16:creationId xmlns:a16="http://schemas.microsoft.com/office/drawing/2014/main" id="{1BDB878C-39BC-FBD7-D51F-EBDBA6ECC9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878" y="942807"/>
            <a:ext cx="3158834" cy="19348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B1ABD4D-EDE3-D355-EE54-03FD272DD91E}"/>
              </a:ext>
            </a:extLst>
          </p:cNvPr>
          <p:cNvSpPr/>
          <p:nvPr/>
        </p:nvSpPr>
        <p:spPr>
          <a:xfrm>
            <a:off x="8966825" y="2239645"/>
            <a:ext cx="1248892" cy="61649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graph of frequency and frequency&#10;&#10;AI-generated content may be incorrect.">
            <a:extLst>
              <a:ext uri="{FF2B5EF4-FFF2-40B4-BE49-F238E27FC236}">
                <a16:creationId xmlns:a16="http://schemas.microsoft.com/office/drawing/2014/main" id="{13E6FB34-AF40-90B0-F7C4-0CE570369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74" y="4428199"/>
            <a:ext cx="5523004" cy="1567576"/>
          </a:xfrm>
          <a:prstGeom prst="rect">
            <a:avLst/>
          </a:prstGeom>
        </p:spPr>
      </p:pic>
      <p:pic>
        <p:nvPicPr>
          <p:cNvPr id="20" name="Picture 19" descr="A diagram of a triangle&#10;&#10;AI-generated content may be incorrect.">
            <a:extLst>
              <a:ext uri="{FF2B5EF4-FFF2-40B4-BE49-F238E27FC236}">
                <a16:creationId xmlns:a16="http://schemas.microsoft.com/office/drawing/2014/main" id="{62763E6D-463B-6EBF-C4D9-DAC5C2AFEF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918" y="4193196"/>
            <a:ext cx="3543607" cy="17375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3BCE280-1C3B-16E3-C9DD-D14B80F9FC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117" y="1989076"/>
            <a:ext cx="2530059" cy="754445"/>
          </a:xfrm>
          <a:prstGeom prst="rect">
            <a:avLst/>
          </a:prstGeom>
        </p:spPr>
      </p:pic>
      <p:pic>
        <p:nvPicPr>
          <p:cNvPr id="27" name="Picture 26" descr="A black numbers and a white background&#10;&#10;AI-generated content may be incorrect.">
            <a:extLst>
              <a:ext uri="{FF2B5EF4-FFF2-40B4-BE49-F238E27FC236}">
                <a16:creationId xmlns:a16="http://schemas.microsoft.com/office/drawing/2014/main" id="{440EC42D-C905-36C4-47C8-F480D0F94D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17" y="2743521"/>
            <a:ext cx="2027096" cy="6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1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2390-3E3D-6E35-60F3-892344BA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0A5C-4848-E72A-6470-4382CD34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2: CƠ SỞ LÝ THUYẾT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392A6-1C17-B8AE-4B19-F5A5F91453C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6534012" cy="4909124"/>
              </a:xfrm>
            </p:spPr>
            <p:txBody>
              <a:bodyPr lIns="91440" tIns="45720" rIns="91440" bIns="45720" anchor="t"/>
              <a:lstStyle/>
              <a:p>
                <a:pPr marL="0" indent="0">
                  <a:buNone/>
                </a:pPr>
                <a:r>
                  <a:rPr lang="en-US" sz="2400" dirty="0">
                    <a:latin typeface="Lato"/>
                    <a:ea typeface="Lato"/>
                    <a:cs typeface="Lato"/>
                  </a:rPr>
                  <a:t>MFCC (Mel frequency cepstral coefficients)</a:t>
                </a:r>
                <a:r>
                  <a:rPr lang="vi-VN" sz="2400" dirty="0">
                    <a:latin typeface="Lato"/>
                    <a:ea typeface="Lato"/>
                    <a:cs typeface="Lato"/>
                  </a:rPr>
                  <a:t>:</a:t>
                </a:r>
              </a:p>
              <a:p>
                <a:r>
                  <a:rPr lang="vi-VN" sz="2000" dirty="0">
                    <a:latin typeface="Lato"/>
                    <a:ea typeface="Lato"/>
                    <a:cs typeface="Lato"/>
                  </a:rPr>
                  <a:t>Tạo bộ đáp ứng tần số với mỗi tần số k theo từng bộ lọc</a:t>
                </a: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endParaRPr lang="vi-VN" sz="2000" dirty="0">
                  <a:latin typeface="Lato"/>
                  <a:ea typeface="Lato"/>
                  <a:cs typeface="Lato"/>
                </a:endParaRPr>
              </a:p>
              <a:p>
                <a:r>
                  <a:rPr lang="vi-VN" sz="2000" dirty="0">
                    <a:latin typeface="Lato"/>
                    <a:ea typeface="Lato"/>
                    <a:cs typeface="Lato"/>
                  </a:rPr>
                  <a:t>Tính toán năng lượng đầu ra </a:t>
                </a:r>
                <a:r>
                  <a:rPr lang="it-IT" sz="2000" dirty="0">
                    <a:latin typeface="Lato"/>
                    <a:ea typeface="Lato"/>
                    <a:cs typeface="Lato"/>
                  </a:rPr>
                  <a:t>E(i) </a:t>
                </a:r>
                <a:r>
                  <a:rPr lang="vi-VN" sz="2000" dirty="0">
                    <a:latin typeface="Lato"/>
                    <a:ea typeface="Lato"/>
                    <a:cs typeface="Lato"/>
                  </a:rPr>
                  <a:t>với </a:t>
                </a:r>
                <a:r>
                  <a:rPr lang="it-IT" sz="2000" dirty="0">
                    <a:latin typeface="Lato"/>
                    <a:ea typeface="Lato"/>
                    <a:cs typeface="Lato"/>
                  </a:rPr>
                  <a:t>(i=1,.2,...,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smtClean="0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sz="2000" i="1">
                            <a:latin typeface="Cambria Math" panose="02040503050406030204" pitchFamily="18" charset="0"/>
                            <a:ea typeface="Lato"/>
                            <a:cs typeface="Lato"/>
                          </a:rPr>
                          <m:t>F</m:t>
                        </m:r>
                      </m:sub>
                    </m:sSub>
                  </m:oMath>
                </a14:m>
                <a:r>
                  <a:rPr lang="it-IT" sz="2000" dirty="0">
                    <a:latin typeface="Lato"/>
                    <a:ea typeface="Lato"/>
                    <a:cs typeface="Lato"/>
                  </a:rPr>
                  <a:t>)</a:t>
                </a:r>
                <a:r>
                  <a:rPr lang="vi-VN" sz="2000" dirty="0">
                    <a:latin typeface="Lato"/>
                    <a:ea typeface="Lato"/>
                    <a:cs typeface="Lato"/>
                  </a:rPr>
                  <a:t> dựa trên năng lượng tín hiệu và đáp ứng đầu ra tương ứng.</a:t>
                </a:r>
                <a:endParaRPr lang="en-US" sz="2000" dirty="0">
                  <a:latin typeface="Lato"/>
                  <a:ea typeface="Lato"/>
                  <a:cs typeface="Lato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D392A6-1C17-B8AE-4B19-F5A5F9145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6534012" cy="4909124"/>
              </a:xfrm>
              <a:blipFill>
                <a:blip r:embed="rId2"/>
                <a:stretch>
                  <a:fillRect l="-1494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22539-F3D9-9380-3050-04331D09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Picture 5" descr="A diagram of a device&#10;&#10;AI-generated content may be incorrect.">
            <a:extLst>
              <a:ext uri="{FF2B5EF4-FFF2-40B4-BE49-F238E27FC236}">
                <a16:creationId xmlns:a16="http://schemas.microsoft.com/office/drawing/2014/main" id="{2FFC3F14-EA93-37A5-DE04-579C38720C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878" y="942807"/>
            <a:ext cx="3158834" cy="19348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36F7BF4-6E33-9009-45AA-4048891DDAAF}"/>
              </a:ext>
            </a:extLst>
          </p:cNvPr>
          <p:cNvSpPr/>
          <p:nvPr/>
        </p:nvSpPr>
        <p:spPr>
          <a:xfrm>
            <a:off x="10320295" y="2239645"/>
            <a:ext cx="1248892" cy="61649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08B3F0FB-D2F0-6A18-F797-7CD889B96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3" y="2150772"/>
            <a:ext cx="5899513" cy="2556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C246EB-91CB-4471-92AC-B522C4C5E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294" y="4707227"/>
            <a:ext cx="32956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6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0071-0833-737C-E696-AA2C29B72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B79A-4C0B-2B0C-7AC9-505E7974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2: CƠ SỞ LÝ THUYẾT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8A97E-1B17-FB6E-A31E-3DD55B66BB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6534012" cy="490912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400" dirty="0">
                <a:latin typeface="Lato"/>
                <a:ea typeface="Lato"/>
                <a:cs typeface="Lato"/>
              </a:rPr>
              <a:t>MFCC (Mel frequency cepstral coefficients)</a:t>
            </a:r>
            <a:r>
              <a:rPr lang="vi-VN" sz="2400" dirty="0">
                <a:latin typeface="Lato"/>
                <a:ea typeface="Lato"/>
                <a:cs typeface="Lato"/>
              </a:rPr>
              <a:t>: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Tính toán các hệ số MFCC bằng phép biến đổi </a:t>
            </a:r>
            <a:r>
              <a:rPr lang="vi-VN" sz="2000" dirty="0" err="1">
                <a:latin typeface="Lato"/>
                <a:ea typeface="Lato"/>
                <a:cs typeface="Lato"/>
              </a:rPr>
              <a:t>cosine</a:t>
            </a:r>
            <a:r>
              <a:rPr lang="vi-VN" sz="2000" dirty="0">
                <a:latin typeface="Lato"/>
                <a:ea typeface="Lato"/>
                <a:cs typeface="Lato"/>
              </a:rPr>
              <a:t> rời rạc (DCT) với m = 0,1,2,...,R-1. R là số đặc trưng muốn có. Mặc định với R = 13.</a:t>
            </a:r>
            <a:endParaRPr lang="en-US" sz="20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EF804-1552-8FB6-D681-89DA7258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 descr="A diagram of a device&#10;&#10;AI-generated content may be incorrect.">
            <a:extLst>
              <a:ext uri="{FF2B5EF4-FFF2-40B4-BE49-F238E27FC236}">
                <a16:creationId xmlns:a16="http://schemas.microsoft.com/office/drawing/2014/main" id="{FCDDCCB2-E777-9C9F-7099-E7760EB69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878" y="942807"/>
            <a:ext cx="3158834" cy="19348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DE1641-8B95-D7CA-C8B4-57A168C995B8}"/>
              </a:ext>
            </a:extLst>
          </p:cNvPr>
          <p:cNvSpPr/>
          <p:nvPr/>
        </p:nvSpPr>
        <p:spPr>
          <a:xfrm>
            <a:off x="10320295" y="1431495"/>
            <a:ext cx="1248892" cy="61649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4E632B6-CD53-2EA9-9257-FAC263B3E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06" y="3837871"/>
            <a:ext cx="3485222" cy="234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1F8DF2B-0AEB-94F0-F120-E9F7E0F64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97" y="2654893"/>
            <a:ext cx="4903417" cy="96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28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0130-641F-C731-B8BB-53D1548A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2232-76CD-1F29-E575-57CF7476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2: CƠ SỞ LÝ THUYẾT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9F205-4E96-4F35-2234-23AF6DD71D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409835" cy="4909124"/>
          </a:xfrm>
        </p:spPr>
        <p:txBody>
          <a:bodyPr lIns="91440" tIns="45720" rIns="91440" bIns="45720" anchor="t"/>
          <a:lstStyle/>
          <a:p>
            <a:r>
              <a:rPr lang="vi-VN" sz="2000" dirty="0" err="1"/>
              <a:t>Convolutional</a:t>
            </a:r>
            <a:r>
              <a:rPr lang="vi-VN" sz="2000" dirty="0"/>
              <a:t> </a:t>
            </a:r>
            <a:r>
              <a:rPr lang="vi-VN" sz="2000" dirty="0" err="1"/>
              <a:t>Neural</a:t>
            </a:r>
            <a:r>
              <a:rPr lang="vi-VN" sz="2000" dirty="0"/>
              <a:t> </a:t>
            </a:r>
            <a:r>
              <a:rPr lang="vi-VN" sz="2000" dirty="0" err="1"/>
              <a:t>Network</a:t>
            </a:r>
            <a:r>
              <a:rPr lang="vi-VN" sz="2000" dirty="0"/>
              <a:t> (CNN – Mạng </a:t>
            </a:r>
            <a:r>
              <a:rPr lang="vi-VN" sz="2000" dirty="0" err="1"/>
              <a:t>neural</a:t>
            </a:r>
            <a:r>
              <a:rPr lang="vi-VN" sz="2000" dirty="0"/>
              <a:t> tích chập) là tập hợp các lớp cơ bản bao gồm: lớp tích chập, lớp phi tuyến, lớp kết hợp, lớp làm </a:t>
            </a:r>
            <a:r>
              <a:rPr lang="vi-VN" sz="2000" dirty="0" err="1"/>
              <a:t>phẳng</a:t>
            </a:r>
            <a:r>
              <a:rPr lang="vi-VN" sz="2000" dirty="0"/>
              <a:t>, lớp kết nối đầy đủ và lớp đầu ra. </a:t>
            </a:r>
            <a:endParaRPr lang="en-US" sz="2000" dirty="0"/>
          </a:p>
          <a:p>
            <a:endParaRPr lang="en-US" sz="20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428C6-0315-F9DD-4C18-BB1AD7BF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7" name="Picture 6" descr="A diagram of a diagram of a pool">
            <a:extLst>
              <a:ext uri="{FF2B5EF4-FFF2-40B4-BE49-F238E27FC236}">
                <a16:creationId xmlns:a16="http://schemas.microsoft.com/office/drawing/2014/main" id="{090E0451-0FF2-EA9A-BFBD-A928F591C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673" y="2035278"/>
            <a:ext cx="9892654" cy="403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035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2762-A932-B57D-AC4D-868BFC57E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7003-CD97-9E12-6AB3-5284B27C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043" y="97839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3</a:t>
            </a:r>
            <a:r>
              <a:rPr lang="en-US" sz="3200" dirty="0">
                <a:latin typeface="Lato"/>
                <a:ea typeface="Lato"/>
                <a:cs typeface="Lato"/>
              </a:rPr>
              <a:t>: PHƯƠNG PHÁP ĐỀ XUẤT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D32E8-990E-59BA-7813-7ECA8500EA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409835" cy="490912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Các tập dữ liệu được sử dụng:</a:t>
            </a:r>
          </a:p>
          <a:p>
            <a:r>
              <a:rPr lang="en-US" sz="2400" dirty="0" err="1">
                <a:latin typeface="Lato"/>
                <a:ea typeface="Lato"/>
                <a:cs typeface="Lato"/>
              </a:rPr>
              <a:t>Tập</a:t>
            </a:r>
            <a:r>
              <a:rPr lang="en-US" sz="2400" dirty="0"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latin typeface="Lato"/>
                <a:ea typeface="Lato"/>
                <a:cs typeface="Lato"/>
              </a:rPr>
              <a:t>dữ</a:t>
            </a:r>
            <a:r>
              <a:rPr lang="en-US" sz="2400" dirty="0"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latin typeface="Lato"/>
                <a:ea typeface="Lato"/>
                <a:cs typeface="Lato"/>
              </a:rPr>
              <a:t>liệu</a:t>
            </a:r>
            <a:r>
              <a:rPr lang="en-US" sz="2400" dirty="0"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latin typeface="Lato"/>
                <a:ea typeface="Lato"/>
                <a:cs typeface="Lato"/>
              </a:rPr>
              <a:t>huấn</a:t>
            </a:r>
            <a:r>
              <a:rPr lang="en-US" sz="2400" dirty="0">
                <a:latin typeface="Lato"/>
                <a:ea typeface="Lato"/>
                <a:cs typeface="Lato"/>
              </a:rPr>
              <a:t> </a:t>
            </a:r>
            <a:r>
              <a:rPr lang="en-US" sz="2400" dirty="0" err="1">
                <a:latin typeface="Lato"/>
                <a:ea typeface="Lato"/>
                <a:cs typeface="Lato"/>
              </a:rPr>
              <a:t>luyện</a:t>
            </a:r>
            <a:r>
              <a:rPr lang="en-US" sz="2400" dirty="0">
                <a:latin typeface="Lato"/>
                <a:ea typeface="Lato"/>
                <a:cs typeface="Lato"/>
              </a:rPr>
              <a:t>.</a:t>
            </a:r>
          </a:p>
          <a:p>
            <a:pPr lvl="1"/>
            <a:r>
              <a:rPr lang="en-US" sz="2000" dirty="0" err="1">
                <a:latin typeface="Lato"/>
                <a:ea typeface="Lato"/>
                <a:cs typeface="Lato"/>
              </a:rPr>
              <a:t>AudioMNIST</a:t>
            </a:r>
            <a:r>
              <a:rPr lang="en-US" sz="2000" dirty="0">
                <a:latin typeface="Lato"/>
                <a:ea typeface="Lato"/>
                <a:cs typeface="Lato"/>
              </a:rPr>
              <a:t> (</a:t>
            </a:r>
            <a:r>
              <a:rPr lang="vi-VN" sz="2000" dirty="0">
                <a:latin typeface="Lato"/>
                <a:ea typeface="Lato"/>
                <a:cs typeface="Lato"/>
              </a:rPr>
              <a:t>Nguồn: </a:t>
            </a:r>
            <a:r>
              <a:rPr lang="vi-VN" sz="2000" dirty="0">
                <a:latin typeface="Lato"/>
                <a:ea typeface="Lato"/>
                <a:cs typeface="Lato"/>
                <a:hlinkClick r:id="rId2"/>
              </a:rPr>
              <a:t>https://github.com/soerenab/AudioMNIST</a:t>
            </a:r>
            <a:r>
              <a:rPr lang="vi-VN" sz="2000" dirty="0">
                <a:latin typeface="Lato"/>
                <a:ea typeface="Lato"/>
                <a:cs typeface="Lato"/>
              </a:rPr>
              <a:t>)</a:t>
            </a:r>
          </a:p>
          <a:p>
            <a:pPr lvl="1"/>
            <a:r>
              <a:rPr lang="en-US" sz="2000" dirty="0"/>
              <a:t>30000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vi-VN" sz="2000" dirty="0"/>
              <a:t> âm thanh, 60 người nói. </a:t>
            </a:r>
            <a:endParaRPr lang="vi-VN" sz="2000" dirty="0">
              <a:latin typeface="Lato"/>
              <a:ea typeface="Lato"/>
              <a:cs typeface="Lato"/>
            </a:endParaRP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Format: {digitLabel}_{speakerIndex}_{index}.wav </a:t>
            </a: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Example: 2_01_32.wav</a:t>
            </a:r>
          </a:p>
          <a:p>
            <a:pPr marL="457200" lvl="1" indent="0">
              <a:buNone/>
            </a:pPr>
            <a:endParaRPr lang="vi-VN" sz="2000" dirty="0">
              <a:latin typeface="Lato"/>
              <a:ea typeface="Lato"/>
              <a:cs typeface="Lato"/>
            </a:endParaRPr>
          </a:p>
          <a:p>
            <a:r>
              <a:rPr lang="vi-VN" sz="2400" dirty="0">
                <a:latin typeface="Lato"/>
                <a:ea typeface="Lato"/>
                <a:cs typeface="Lato"/>
              </a:rPr>
              <a:t>Tập dữ liệu thử nghiệm.</a:t>
            </a: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FSDD (Nguồn: </a:t>
            </a:r>
            <a:r>
              <a:rPr lang="vi-VN" sz="2000" dirty="0">
                <a:latin typeface="Lato"/>
                <a:ea typeface="Lato"/>
                <a:cs typeface="Lato"/>
                <a:hlinkClick r:id="rId3"/>
              </a:rPr>
              <a:t>https://github.com/Jakobovski/free-spoken-digit-dataset</a:t>
            </a:r>
            <a:r>
              <a:rPr lang="vi-VN" sz="2000" dirty="0">
                <a:latin typeface="Lato"/>
                <a:ea typeface="Lato"/>
                <a:cs typeface="Lato"/>
              </a:rPr>
              <a:t>)</a:t>
            </a:r>
          </a:p>
          <a:p>
            <a:pPr lvl="1"/>
            <a:r>
              <a:rPr lang="en-US" sz="2000" dirty="0"/>
              <a:t>3000 </a:t>
            </a:r>
            <a:r>
              <a:rPr lang="en-US" sz="2000" dirty="0" err="1"/>
              <a:t>tài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âm</a:t>
            </a:r>
            <a:r>
              <a:rPr lang="en-US" sz="2000" dirty="0"/>
              <a:t> </a:t>
            </a:r>
            <a:r>
              <a:rPr lang="vi-VN" sz="2000" dirty="0"/>
              <a:t>thanh, 6 người nói.</a:t>
            </a:r>
            <a:endParaRPr lang="vi-VN" sz="2000" dirty="0">
              <a:latin typeface="Lato"/>
              <a:ea typeface="Lato"/>
              <a:cs typeface="Lato"/>
            </a:endParaRP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Format: {digitLabel}_{speakerName}_{index}.wav </a:t>
            </a: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Example: 7_jackson_11.wav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8F232-3498-DE41-E8CD-CB19487C7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1FDD-79F2-34DA-0351-A69DBA782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DE5DA-0C71-CF53-6ACB-42F37BFC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89" y="97839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3</a:t>
            </a:r>
            <a:r>
              <a:rPr lang="en-US" sz="3200" dirty="0">
                <a:latin typeface="Lato"/>
                <a:ea typeface="Lato"/>
                <a:cs typeface="Lato"/>
              </a:rPr>
              <a:t>: PHƯƠNG PHÁP ĐỀ XUẤT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A6254-0506-758F-D1A0-4B924EF7C82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409835" cy="490912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Các tập dữ liệu được sử dụng:</a:t>
            </a:r>
          </a:p>
          <a:p>
            <a:r>
              <a:rPr lang="vi-VN" sz="2400" dirty="0">
                <a:latin typeface="Lato"/>
                <a:ea typeface="Lato"/>
                <a:cs typeface="Lato"/>
              </a:rPr>
              <a:t>Tiền xử lý các bộ dữ liệu:</a:t>
            </a:r>
            <a:endParaRPr lang="en-US" sz="2400" dirty="0">
              <a:latin typeface="Lato"/>
              <a:ea typeface="Lato"/>
              <a:cs typeface="Lato"/>
            </a:endParaRP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Đồng bộ tần số lấy mẫu của tất cả dữ liệu về mức 8kHz.</a:t>
            </a:r>
          </a:p>
          <a:p>
            <a:pPr marL="457200" lvl="1" indent="0">
              <a:buNone/>
            </a:pPr>
            <a:endParaRPr lang="vi-VN" dirty="0">
              <a:latin typeface="Lato"/>
              <a:ea typeface="Lato"/>
              <a:cs typeface="Lato"/>
            </a:endParaRPr>
          </a:p>
          <a:p>
            <a:r>
              <a:rPr lang="vi-VN" sz="2400" dirty="0">
                <a:latin typeface="Lato"/>
                <a:ea typeface="Lato"/>
                <a:cs typeface="Lato"/>
              </a:rPr>
              <a:t>Biến đổi MFCC dữ liệu:</a:t>
            </a: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Các dữ liệu âm thanh có độ dài khác nhau, dẫn tới kích thước MFCC đầu ra không đồng bộ.</a:t>
            </a:r>
          </a:p>
          <a:p>
            <a:pPr lvl="1"/>
            <a:r>
              <a:rPr lang="vi-VN" sz="2000" dirty="0">
                <a:latin typeface="Lato"/>
                <a:ea typeface="Lato"/>
                <a:cs typeface="Lato"/>
              </a:rPr>
              <a:t>Thực hiện thêm phần đệm (</a:t>
            </a:r>
            <a:r>
              <a:rPr lang="vi-VN" sz="2000" dirty="0" err="1">
                <a:latin typeface="Lato"/>
                <a:ea typeface="Lato"/>
                <a:cs typeface="Lato"/>
              </a:rPr>
              <a:t>padding</a:t>
            </a:r>
            <a:r>
              <a:rPr lang="vi-VN" sz="2000" dirty="0">
                <a:latin typeface="Lato"/>
                <a:ea typeface="Lato"/>
                <a:cs typeface="Lato"/>
              </a:rPr>
              <a:t> )vào cuối các MFCC tạo ra kích thước đồng bộ 13x20.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32EE3-CAFF-7A9A-6426-E1815931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9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8179-3ED9-A4DD-31A3-85E08B0D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4F6A-239E-7132-1D36-A96DCDBFF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5" y="76868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3</a:t>
            </a:r>
            <a:r>
              <a:rPr lang="en-US" sz="3200" dirty="0">
                <a:latin typeface="Lato"/>
                <a:ea typeface="Lato"/>
                <a:cs typeface="Lato"/>
              </a:rPr>
              <a:t>: PHƯƠNG PHÁP ĐỀ XUẤT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EE348-6C20-52D3-A470-8998D74441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5" y="913389"/>
            <a:ext cx="3714790" cy="436098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Kiến trúc hệ thống:</a:t>
            </a:r>
          </a:p>
          <a:p>
            <a:pPr marL="0" indent="0">
              <a:buNone/>
            </a:pPr>
            <a:endParaRPr lang="vi-VN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6BAEC-92C0-49CB-7C87-F00E6366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1" name="Picture 10" descr="A diagram of a process&#10;&#10;AI-generated content may be incorrect.">
            <a:extLst>
              <a:ext uri="{FF2B5EF4-FFF2-40B4-BE49-F238E27FC236}">
                <a16:creationId xmlns:a16="http://schemas.microsoft.com/office/drawing/2014/main" id="{74F2CB3B-CB9F-9DD0-F187-59A57854C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43" y="1714235"/>
            <a:ext cx="7277714" cy="422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9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5151C-1FC0-7717-31D2-B5A39E0DC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3C448-38C5-7D4D-17C1-BC41BC3DA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3</a:t>
            </a:r>
            <a:r>
              <a:rPr lang="en-US" sz="3200" dirty="0">
                <a:latin typeface="Lato"/>
                <a:ea typeface="Lato"/>
                <a:cs typeface="Lato"/>
              </a:rPr>
              <a:t>: PHƯƠNG PHÁP ĐỀ </a:t>
            </a:r>
            <a:r>
              <a:rPr lang="vi-VN" sz="3200" dirty="0">
                <a:latin typeface="Lato"/>
                <a:ea typeface="Lato"/>
                <a:cs typeface="Lato"/>
              </a:rPr>
              <a:t>XUẤT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E14D-33B7-7263-4AD9-4B965F0CAC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5" y="913389"/>
            <a:ext cx="5584889" cy="41895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Kiến trúc </a:t>
            </a:r>
            <a:r>
              <a:rPr lang="vi-VN" sz="2400" dirty="0" err="1">
                <a:latin typeface="Lato"/>
                <a:ea typeface="Lato"/>
                <a:cs typeface="Lato"/>
              </a:rPr>
              <a:t>model</a:t>
            </a:r>
            <a:r>
              <a:rPr lang="vi-VN" sz="2400" dirty="0">
                <a:latin typeface="Lato"/>
                <a:ea typeface="Lato"/>
                <a:cs typeface="Lato"/>
              </a:rPr>
              <a:t> CNN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Sử dụng </a:t>
            </a:r>
            <a:r>
              <a:rPr lang="vi-VN" sz="2000" dirty="0" err="1">
                <a:latin typeface="Lato"/>
                <a:ea typeface="Lato"/>
                <a:cs typeface="Lato"/>
              </a:rPr>
              <a:t>loss</a:t>
            </a: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r>
              <a:rPr lang="vi-VN" sz="2000" dirty="0" err="1">
                <a:latin typeface="Lato"/>
                <a:ea typeface="Lato"/>
                <a:cs typeface="Lato"/>
              </a:rPr>
              <a:t>function</a:t>
            </a: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r>
              <a:rPr lang="vi-VN" sz="2000" dirty="0" err="1">
                <a:latin typeface="Lato"/>
                <a:ea typeface="Lato"/>
                <a:cs typeface="Lato"/>
              </a:rPr>
              <a:t>Categorical</a:t>
            </a: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r>
              <a:rPr lang="vi-VN" sz="2000" dirty="0" err="1">
                <a:latin typeface="Lato"/>
                <a:ea typeface="Lato"/>
                <a:cs typeface="Lato"/>
              </a:rPr>
              <a:t>Cross-Entropy</a:t>
            </a:r>
            <a:r>
              <a:rPr lang="vi-VN" sz="2000" dirty="0">
                <a:latin typeface="Lato"/>
                <a:ea typeface="Lato"/>
                <a:cs typeface="Lato"/>
              </a:rPr>
              <a:t>.</a:t>
            </a:r>
          </a:p>
          <a:p>
            <a:r>
              <a:rPr lang="vi-VN" sz="2000" dirty="0" err="1">
                <a:latin typeface="Lato"/>
                <a:ea typeface="Lato"/>
                <a:cs typeface="Lato"/>
              </a:rPr>
              <a:t>Loss</a:t>
            </a: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r>
              <a:rPr lang="vi-VN" sz="2000" dirty="0" err="1">
                <a:latin typeface="Lato"/>
                <a:ea typeface="Lato"/>
                <a:cs typeface="Lato"/>
              </a:rPr>
              <a:t>function</a:t>
            </a:r>
            <a:r>
              <a:rPr lang="vi-VN" sz="2000" dirty="0">
                <a:latin typeface="Lato"/>
                <a:ea typeface="Lato"/>
                <a:cs typeface="Lato"/>
              </a:rPr>
              <a:t> thông dụng nhất được sử dụng cho bài toán </a:t>
            </a:r>
            <a:r>
              <a:rPr lang="vi-VN" sz="2000" dirty="0" err="1">
                <a:latin typeface="Lato"/>
                <a:ea typeface="Lato"/>
                <a:cs typeface="Lato"/>
              </a:rPr>
              <a:t>multi-class</a:t>
            </a:r>
            <a:r>
              <a:rPr lang="vi-VN" sz="2000" dirty="0">
                <a:latin typeface="Lato"/>
                <a:ea typeface="Lato"/>
                <a:cs typeface="Lato"/>
              </a:rPr>
              <a:t> </a:t>
            </a:r>
            <a:r>
              <a:rPr lang="vi-VN" sz="2000" dirty="0" err="1">
                <a:latin typeface="Lato"/>
                <a:ea typeface="Lato"/>
                <a:cs typeface="Lato"/>
              </a:rPr>
              <a:t>classification</a:t>
            </a:r>
            <a:r>
              <a:rPr lang="vi-VN" sz="2000" dirty="0">
                <a:latin typeface="Lato"/>
                <a:ea typeface="Lato"/>
                <a:cs typeface="Lato"/>
              </a:rPr>
              <a:t>.</a:t>
            </a:r>
          </a:p>
          <a:p>
            <a:pPr marL="0" indent="0">
              <a:buNone/>
            </a:pPr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C4CC-F243-AAEE-4260-0B93200E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02B96A-1AFC-2266-6D59-0FE83BF0D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071" y="913389"/>
            <a:ext cx="4234879" cy="5394801"/>
          </a:xfrm>
          <a:prstGeom prst="rect">
            <a:avLst/>
          </a:prstGeom>
        </p:spPr>
      </p:pic>
      <p:pic>
        <p:nvPicPr>
          <p:cNvPr id="8" name="Picture 7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E87A5265-ADED-26F0-B16B-ABC8D4E8D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135" y="3429000"/>
            <a:ext cx="2943130" cy="1122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A0C6A1-4A6F-0190-202E-6E3DF276E568}"/>
              </a:ext>
            </a:extLst>
          </p:cNvPr>
          <p:cNvSpPr txBox="1"/>
          <p:nvPr/>
        </p:nvSpPr>
        <p:spPr>
          <a:xfrm>
            <a:off x="4439265" y="5790722"/>
            <a:ext cx="2534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</a:t>
            </a: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vi-VN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trích xuất đặc trưng </a:t>
            </a:r>
            <a:endParaRPr lang="en-US" sz="1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E45B4F-D03B-CB92-ED92-719D97449498}"/>
              </a:ext>
            </a:extLst>
          </p:cNvPr>
          <p:cNvCxnSpPr>
            <a:cxnSpLocks/>
            <a:endCxn id="9" idx="3"/>
          </p:cNvCxnSpPr>
          <p:nvPr/>
        </p:nvCxnSpPr>
        <p:spPr>
          <a:xfrm>
            <a:off x="6646606" y="5944610"/>
            <a:ext cx="3273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480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67DF-A5BF-A927-5E18-2589EB09A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E966-256D-389E-10E7-17B3FAB2B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4" y="83367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3</a:t>
            </a:r>
            <a:r>
              <a:rPr lang="en-US" sz="3200" dirty="0">
                <a:latin typeface="Lato"/>
                <a:ea typeface="Lato"/>
                <a:cs typeface="Lato"/>
              </a:rPr>
              <a:t>: PHƯƠNG PHÁP ĐỀ XUẤT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8D524-CD91-D9D3-F520-6FB7DADFFE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4" y="913389"/>
            <a:ext cx="11634407" cy="1886372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Vector định danh </a:t>
            </a:r>
            <a:endParaRPr lang="en-US" sz="2400" dirty="0">
              <a:latin typeface="Lato"/>
              <a:ea typeface="Lato"/>
              <a:cs typeface="Lato"/>
            </a:endParaRPr>
          </a:p>
          <a:p>
            <a:r>
              <a:rPr lang="vi-VN" sz="2000" dirty="0">
                <a:latin typeface="Lato"/>
                <a:ea typeface="Lato"/>
                <a:cs typeface="Lato"/>
              </a:rPr>
              <a:t>Tạo bộ vector đặc trưng với mỗi vector cho một số 0 </a:t>
            </a:r>
            <a:r>
              <a:rPr lang="vi-VN" sz="2000" dirty="0">
                <a:latin typeface="Lato"/>
                <a:ea typeface="Lato"/>
                <a:cs typeface="Lato"/>
                <a:sym typeface="Wingdings" panose="05000000000000000000" pitchFamily="2" charset="2"/>
              </a:rPr>
              <a:t> 9.</a:t>
            </a:r>
          </a:p>
          <a:p>
            <a:r>
              <a:rPr lang="vi-VN" sz="2000" dirty="0">
                <a:latin typeface="Lato"/>
                <a:ea typeface="Lato"/>
                <a:cs typeface="Lato"/>
                <a:sym typeface="Wingdings" panose="05000000000000000000" pitchFamily="2" charset="2"/>
              </a:rPr>
              <a:t>Lưu trữ với cấu trúc </a:t>
            </a:r>
            <a:r>
              <a:rPr lang="en-US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'Name'</a:t>
            </a:r>
            <a:r>
              <a:rPr lang="en-US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'Digit'</a:t>
            </a:r>
            <a:r>
              <a:rPr lang="en-US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20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'Vector'</a:t>
            </a:r>
            <a:r>
              <a:rPr lang="en-US" sz="20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endParaRPr lang="vi-VN" sz="2400" dirty="0">
              <a:latin typeface="Lato"/>
              <a:ea typeface="Lato"/>
              <a:cs typeface="Lato"/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B3A8B-B111-575A-4C36-59C90A5B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7F588-E831-93C9-806C-E0077A86EE61}"/>
              </a:ext>
            </a:extLst>
          </p:cNvPr>
          <p:cNvSpPr/>
          <p:nvPr/>
        </p:nvSpPr>
        <p:spPr>
          <a:xfrm>
            <a:off x="4133947" y="3327848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.wav file 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4EC7F8-484A-6CEB-F163-83F63A76640E}"/>
              </a:ext>
            </a:extLst>
          </p:cNvPr>
          <p:cNvSpPr/>
          <p:nvPr/>
        </p:nvSpPr>
        <p:spPr>
          <a:xfrm>
            <a:off x="4133945" y="3658463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.wav file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CF901-E1D9-B5A6-D0D9-D868993FDD8B}"/>
              </a:ext>
            </a:extLst>
          </p:cNvPr>
          <p:cNvSpPr/>
          <p:nvPr/>
        </p:nvSpPr>
        <p:spPr>
          <a:xfrm>
            <a:off x="4133946" y="3989079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.wav file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504460-4774-BBB2-DFB5-770ACDC1A705}"/>
              </a:ext>
            </a:extLst>
          </p:cNvPr>
          <p:cNvSpPr/>
          <p:nvPr/>
        </p:nvSpPr>
        <p:spPr>
          <a:xfrm>
            <a:off x="4133940" y="4919112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.wav file 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BE89E1-DCC2-CDA8-2DB3-5F54CEDE6D26}"/>
              </a:ext>
            </a:extLst>
          </p:cNvPr>
          <p:cNvSpPr/>
          <p:nvPr/>
        </p:nvSpPr>
        <p:spPr>
          <a:xfrm>
            <a:off x="4133939" y="4319694"/>
            <a:ext cx="1300899" cy="132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...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1F2A3-0DF7-63CE-0D91-EA43B4D582DA}"/>
              </a:ext>
            </a:extLst>
          </p:cNvPr>
          <p:cNvSpPr/>
          <p:nvPr/>
        </p:nvSpPr>
        <p:spPr>
          <a:xfrm>
            <a:off x="4133939" y="4524846"/>
            <a:ext cx="1300899" cy="132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....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25ECF0-A498-DE08-1B25-9E3A62F556DE}"/>
              </a:ext>
            </a:extLst>
          </p:cNvPr>
          <p:cNvSpPr/>
          <p:nvPr/>
        </p:nvSpPr>
        <p:spPr>
          <a:xfrm>
            <a:off x="4133941" y="4721979"/>
            <a:ext cx="1300899" cy="132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.....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5DB99EC-E989-F4B0-B323-404F01472F4D}"/>
              </a:ext>
            </a:extLst>
          </p:cNvPr>
          <p:cNvSpPr/>
          <p:nvPr/>
        </p:nvSpPr>
        <p:spPr>
          <a:xfrm>
            <a:off x="4028994" y="3208254"/>
            <a:ext cx="1510787" cy="209177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BA3DDE-6B02-50ED-CA99-F44C79743A22}"/>
              </a:ext>
            </a:extLst>
          </p:cNvPr>
          <p:cNvSpPr/>
          <p:nvPr/>
        </p:nvSpPr>
        <p:spPr>
          <a:xfrm>
            <a:off x="6757172" y="3305151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Vector 0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62D8F2-C68D-B6C1-3CDA-E641D2C9DED8}"/>
              </a:ext>
            </a:extLst>
          </p:cNvPr>
          <p:cNvSpPr/>
          <p:nvPr/>
        </p:nvSpPr>
        <p:spPr>
          <a:xfrm>
            <a:off x="6757170" y="3635766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Vector 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677541D-BC8F-8142-6FB0-1CA1AF231B46}"/>
              </a:ext>
            </a:extLst>
          </p:cNvPr>
          <p:cNvSpPr/>
          <p:nvPr/>
        </p:nvSpPr>
        <p:spPr>
          <a:xfrm>
            <a:off x="6757171" y="3966382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Vector 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3A00667-97FD-AB3B-BC9F-3D9B4CCB638E}"/>
              </a:ext>
            </a:extLst>
          </p:cNvPr>
          <p:cNvSpPr/>
          <p:nvPr/>
        </p:nvSpPr>
        <p:spPr>
          <a:xfrm>
            <a:off x="6757165" y="4896415"/>
            <a:ext cx="1300899" cy="267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Vector 9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D737AA-F760-A60C-68A9-9130CD7DE57B}"/>
              </a:ext>
            </a:extLst>
          </p:cNvPr>
          <p:cNvSpPr/>
          <p:nvPr/>
        </p:nvSpPr>
        <p:spPr>
          <a:xfrm>
            <a:off x="6757164" y="4296997"/>
            <a:ext cx="1300899" cy="132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...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2DE5B9-2E96-0F5C-79E2-3D1D5A9995D1}"/>
              </a:ext>
            </a:extLst>
          </p:cNvPr>
          <p:cNvSpPr/>
          <p:nvPr/>
        </p:nvSpPr>
        <p:spPr>
          <a:xfrm>
            <a:off x="6757164" y="4502149"/>
            <a:ext cx="1300899" cy="132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....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39053E-7E55-EBDE-7DD3-B93D108CF36D}"/>
              </a:ext>
            </a:extLst>
          </p:cNvPr>
          <p:cNvSpPr/>
          <p:nvPr/>
        </p:nvSpPr>
        <p:spPr>
          <a:xfrm>
            <a:off x="6757166" y="4699282"/>
            <a:ext cx="1300899" cy="132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/>
              <a:t>.....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94727E-5354-9F4F-7C78-F3E3A407DAE5}"/>
              </a:ext>
            </a:extLst>
          </p:cNvPr>
          <p:cNvSpPr/>
          <p:nvPr/>
        </p:nvSpPr>
        <p:spPr>
          <a:xfrm>
            <a:off x="6652219" y="3210496"/>
            <a:ext cx="1510787" cy="209177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BB31E77-B56D-7318-FEE8-061424CD26DC}"/>
              </a:ext>
            </a:extLst>
          </p:cNvPr>
          <p:cNvCxnSpPr>
            <a:cxnSpLocks/>
            <a:stCxn id="46" idx="3"/>
            <a:endCxn id="54" idx="1"/>
          </p:cNvCxnSpPr>
          <p:nvPr/>
        </p:nvCxnSpPr>
        <p:spPr>
          <a:xfrm>
            <a:off x="5539781" y="4254144"/>
            <a:ext cx="1112438" cy="2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7130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4807-8235-BACF-7376-D48F5B56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D2CD-CD90-BC51-672E-98C22A21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3" y="92879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3</a:t>
            </a:r>
            <a:r>
              <a:rPr lang="en-US" sz="3200" dirty="0">
                <a:latin typeface="Lato"/>
                <a:ea typeface="Lato"/>
                <a:cs typeface="Lato"/>
              </a:rPr>
              <a:t>: PHƯƠNG PHÁP ĐỀ XUẤT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620EE-A78C-D6FC-AB57-1A95608F60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3" y="913388"/>
            <a:ext cx="11395653" cy="1957631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Độ tương tự Cosine – </a:t>
            </a:r>
            <a:r>
              <a:rPr lang="vi-VN" sz="2400" dirty="0" err="1">
                <a:latin typeface="Lato"/>
                <a:ea typeface="Lato"/>
                <a:cs typeface="Lato"/>
              </a:rPr>
              <a:t>Cosine</a:t>
            </a:r>
            <a:r>
              <a:rPr lang="vi-VN" sz="2400" dirty="0">
                <a:latin typeface="Lato"/>
                <a:ea typeface="Lato"/>
                <a:cs typeface="Lato"/>
              </a:rPr>
              <a:t> </a:t>
            </a:r>
            <a:r>
              <a:rPr lang="en-US" sz="2400" dirty="0"/>
              <a:t>similarity</a:t>
            </a:r>
            <a:endParaRPr lang="vi-VN" sz="2400" dirty="0"/>
          </a:p>
          <a:p>
            <a:r>
              <a:rPr lang="vi-VN" sz="2000" dirty="0">
                <a:latin typeface="Lato"/>
                <a:ea typeface="Lato"/>
                <a:cs typeface="Lato"/>
              </a:rPr>
              <a:t>Giá trị trong khoảng [0, 1] dễ kiểm soát giá trị và đặt ra ngưỡng tối thiểu minimum threshold ( giá trị độ lớn nhỏ nhất được chấp nhận).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23C4C-EAFF-FFB0-403B-5091CE23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122" name="Picture 2" descr="Cosine similarity: How does it measure the similarity, Maths behind and  usage in Python | by Varun | TDS Archive | Medium">
            <a:extLst>
              <a:ext uri="{FF2B5EF4-FFF2-40B4-BE49-F238E27FC236}">
                <a16:creationId xmlns:a16="http://schemas.microsoft.com/office/drawing/2014/main" id="{3E6C1D12-2546-6C0B-59F0-6E08FE8DA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297" y="2561980"/>
            <a:ext cx="4865664" cy="173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092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99C63-3AE9-BEA4-FB1D-C047FF41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E624-3F0E-F54B-746B-E5C42A44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2" y="150831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89DA3-01AE-8BF2-7ABD-C24EAA5B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B32DB5-562D-9D0B-E94F-702976F961FC}"/>
              </a:ext>
            </a:extLst>
          </p:cNvPr>
          <p:cNvSpPr txBox="1"/>
          <p:nvPr/>
        </p:nvSpPr>
        <p:spPr>
          <a:xfrm>
            <a:off x="265302" y="999194"/>
            <a:ext cx="112980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Tổng quan:</a:t>
            </a:r>
          </a:p>
          <a:p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Thực nghiệm 1: </a:t>
            </a:r>
          </a:p>
          <a:p>
            <a:pPr lvl="1"/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Nội dung: Huấn luyện mô hình và đánh giá khả năng nhận dạng của mô hình.</a:t>
            </a:r>
          </a:p>
          <a:p>
            <a:pPr lvl="1"/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Bộ dữ liệu: Tập dữ liệu FSDD </a:t>
            </a:r>
          </a:p>
          <a:p>
            <a:pPr lvl="1"/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 tiêu: Đánh giá khả năng học và trích xuất đặc trưng của mô hình.</a:t>
            </a:r>
          </a:p>
          <a:p>
            <a:pPr marL="457200" lvl="1" indent="0">
              <a:buNone/>
            </a:pPr>
            <a:endParaRPr lang="vi-VN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lvl="1" indent="0">
              <a:buNone/>
            </a:pPr>
            <a:endParaRPr lang="vi-VN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Thực nghiệm 2:</a:t>
            </a:r>
          </a:p>
          <a:p>
            <a:pPr lvl="1"/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Nội dung: Thử nghiệm nhận dạng trên tập dữ liệu được trộn nhiễu.</a:t>
            </a:r>
          </a:p>
          <a:p>
            <a:pPr lvl="1"/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Bộ dữ liệu: Tập dữ liệu FSDD được trộn nhiễu.</a:t>
            </a:r>
          </a:p>
          <a:p>
            <a:pPr lvl="1"/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 tiêu: Đánh giá khả năng nhận dạng trong trường hợp đầu vào không lý tưởng.</a:t>
            </a:r>
          </a:p>
          <a:p>
            <a:pPr lvl="1"/>
            <a:endParaRPr lang="vi-VN" sz="1600" dirty="0"/>
          </a:p>
          <a:p>
            <a:pPr marL="0" indent="0">
              <a:buNone/>
            </a:pPr>
            <a:endParaRPr lang="vi-VN" sz="2000" dirty="0"/>
          </a:p>
          <a:p>
            <a:pPr marL="0" indent="0">
              <a:buNone/>
            </a:pPr>
            <a:endParaRPr lang="vi-VN" sz="2000" dirty="0"/>
          </a:p>
          <a:p>
            <a:pPr marL="0" indent="0">
              <a:buNone/>
            </a:pP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315485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6974-49D8-7C2A-903F-912309E96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1A73-DD7B-019F-E299-E3470152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2" y="150831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358B-11BA-979D-E6DF-86E2B56589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3" y="913387"/>
            <a:ext cx="11514528" cy="640110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Kết quả huấn luyện:</a:t>
            </a:r>
          </a:p>
          <a:p>
            <a:endParaRPr lang="vi-VN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1B253-A8DF-39AD-2C94-BA55917F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4D2E9B-42D7-3F7D-13C3-378998FE7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202" y="1553497"/>
            <a:ext cx="10163596" cy="418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0848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A2AD9-681B-49B2-AF6B-92F55CA8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7144-BECC-E5E0-0193-0E996521A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3" y="110338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710A1-83AC-93B3-AF10-D3C8F5C031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3" y="913387"/>
            <a:ext cx="5663549" cy="4740161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Thực nghiệm đầu vào không nhiễu</a:t>
            </a:r>
            <a:endParaRPr lang="en-US" sz="2400" dirty="0">
              <a:latin typeface="Lato"/>
              <a:ea typeface="Lato"/>
              <a:cs typeface="Lato"/>
            </a:endParaRPr>
          </a:p>
          <a:p>
            <a:pPr marL="0" indent="0">
              <a:buNone/>
            </a:pPr>
            <a:endParaRPr lang="vi-VN" sz="2400" dirty="0">
              <a:latin typeface="Lato"/>
              <a:ea typeface="Lato"/>
              <a:cs typeface="Lato"/>
            </a:endParaRPr>
          </a:p>
          <a:p>
            <a:r>
              <a:rPr lang="vi-VN" sz="2000" dirty="0"/>
              <a:t>Để đánh giá một mô hình đủ tính khả thi trong ứng dụng thực tế , đồ án sử dụng đ</a:t>
            </a:r>
            <a:r>
              <a:rPr lang="en-US" sz="2000" dirty="0" err="1"/>
              <a:t>ường</a:t>
            </a:r>
            <a:r>
              <a:rPr lang="en-US" sz="2000" dirty="0"/>
              <a:t> </a:t>
            </a:r>
            <a:r>
              <a:rPr lang="en-US" sz="2000" dirty="0" err="1"/>
              <a:t>cong</a:t>
            </a:r>
            <a:r>
              <a:rPr lang="en-US" sz="2000" dirty="0"/>
              <a:t> ROC (Receiver operating characteristic)</a:t>
            </a:r>
            <a:r>
              <a:rPr lang="vi-VN" sz="2000" dirty="0"/>
              <a:t>. </a:t>
            </a:r>
            <a:endParaRPr lang="en-US" sz="2000" dirty="0"/>
          </a:p>
          <a:p>
            <a:pPr marL="0" indent="0">
              <a:buNone/>
            </a:pPr>
            <a:endParaRPr lang="vi-VN" sz="2000" dirty="0"/>
          </a:p>
          <a:p>
            <a:r>
              <a:rPr lang="vi-VN" sz="2000" dirty="0"/>
              <a:t>Đường cong ROC được xây dựng bằng cách vẽ đồ thị của tỷ lệ </a:t>
            </a:r>
            <a:r>
              <a:rPr lang="vi-VN" sz="2000" dirty="0" err="1"/>
              <a:t>True</a:t>
            </a:r>
            <a:r>
              <a:rPr lang="vi-VN" sz="2000" dirty="0"/>
              <a:t> </a:t>
            </a:r>
            <a:r>
              <a:rPr lang="vi-VN" sz="2000" dirty="0" err="1"/>
              <a:t>Positive</a:t>
            </a:r>
            <a:r>
              <a:rPr lang="vi-VN" sz="2000" dirty="0"/>
              <a:t> </a:t>
            </a:r>
            <a:r>
              <a:rPr lang="vi-VN" sz="2000" dirty="0" err="1"/>
              <a:t>Rate</a:t>
            </a:r>
            <a:r>
              <a:rPr lang="vi-VN" sz="2000" dirty="0"/>
              <a:t> (TPR) so với tỷ lệ </a:t>
            </a:r>
            <a:r>
              <a:rPr lang="vi-VN" sz="2000" dirty="0" err="1"/>
              <a:t>False</a:t>
            </a:r>
            <a:r>
              <a:rPr lang="vi-VN" sz="2000" dirty="0"/>
              <a:t> </a:t>
            </a:r>
            <a:r>
              <a:rPr lang="vi-VN" sz="2000" dirty="0" err="1"/>
              <a:t>Positive</a:t>
            </a:r>
            <a:r>
              <a:rPr lang="vi-VN" sz="2000" dirty="0"/>
              <a:t> </a:t>
            </a:r>
            <a:r>
              <a:rPr lang="vi-VN" sz="2000" dirty="0" err="1"/>
              <a:t>Rate</a:t>
            </a:r>
            <a:r>
              <a:rPr lang="vi-VN" sz="2000" dirty="0"/>
              <a:t> (FPR) khi ngưỡng phân loại thay đổi từ 0 đến 1.</a:t>
            </a:r>
          </a:p>
          <a:p>
            <a:pPr marL="0" indent="0">
              <a:buNone/>
            </a:pPr>
            <a:endParaRPr lang="vi-VN" sz="2400" dirty="0"/>
          </a:p>
          <a:p>
            <a:pPr marL="0" indent="0">
              <a:buNone/>
            </a:pPr>
            <a:endParaRPr lang="vi-VN" sz="2400" dirty="0"/>
          </a:p>
          <a:p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1BCEB-EC3A-C684-5BCC-24B901F3D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27A520E-9CFB-925C-69EE-DB05E95291CE}"/>
              </a:ext>
            </a:extLst>
          </p:cNvPr>
          <p:cNvGrpSpPr/>
          <p:nvPr/>
        </p:nvGrpSpPr>
        <p:grpSpPr>
          <a:xfrm>
            <a:off x="7026404" y="921289"/>
            <a:ext cx="4400624" cy="5015421"/>
            <a:chOff x="6741268" y="983672"/>
            <a:chExt cx="4400624" cy="501542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325B92B-0400-375E-33FE-65F4A4ED7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41268" y="983672"/>
              <a:ext cx="4400624" cy="439572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009F5D-084D-BB33-EC8C-B8224B681189}"/>
                </a:ext>
              </a:extLst>
            </p:cNvPr>
            <p:cNvSpPr txBox="1"/>
            <p:nvPr/>
          </p:nvSpPr>
          <p:spPr>
            <a:xfrm>
              <a:off x="6982869" y="5629761"/>
              <a:ext cx="391742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vi-VN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Đường cong ROC</a:t>
              </a:r>
              <a:endPara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3736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EC98-0DBC-BF1D-9188-186D29E8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8D1D-906E-F705-B873-7C3B3558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3" y="110338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8D4C5-4E62-9058-1634-CDC959976C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3" y="913388"/>
            <a:ext cx="11926697" cy="2626226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Thực nghiệm đầu vào không nhiễu:</a:t>
            </a:r>
          </a:p>
          <a:p>
            <a:r>
              <a:rPr lang="vi-VN" sz="2000" dirty="0"/>
              <a:t>Trước tiên, đồ án thực hiện thử nghiệm xét các ngưỡng trong khoảng từ 0 đến 1 với bước nhảy là 0.1. </a:t>
            </a:r>
            <a:endParaRPr lang="en-US" sz="2000" dirty="0"/>
          </a:p>
          <a:p>
            <a:pPr marL="0" indent="0">
              <a:buNone/>
            </a:pPr>
            <a:endParaRPr lang="vi-VN" sz="2000" dirty="0"/>
          </a:p>
          <a:p>
            <a:r>
              <a:rPr lang="vi-VN" sz="2000" dirty="0"/>
              <a:t>Với mỗi ngưỡng được xét, xác định các giá trị TPR  và FPR dựa vào độ tương đồng </a:t>
            </a:r>
            <a:r>
              <a:rPr lang="vi-VN" sz="2000" dirty="0" err="1"/>
              <a:t>cosine</a:t>
            </a:r>
            <a:r>
              <a:rPr lang="vi-VN" sz="2000" dirty="0"/>
              <a:t> </a:t>
            </a:r>
            <a:r>
              <a:rPr lang="vi-VN" sz="2000" dirty="0" err="1"/>
              <a:t>similarity</a:t>
            </a:r>
            <a:r>
              <a:rPr lang="vi-VN" sz="2000" dirty="0"/>
              <a:t> của các cặp </a:t>
            </a:r>
            <a:r>
              <a:rPr lang="vi-VN" sz="2000" dirty="0" err="1"/>
              <a:t>vector</a:t>
            </a:r>
            <a:r>
              <a:rPr lang="vi-VN" sz="2000" dirty="0"/>
              <a:t> đặc trưng trong đó chọn 1 </a:t>
            </a:r>
            <a:r>
              <a:rPr lang="vi-VN" sz="2000" dirty="0" err="1"/>
              <a:t>vector</a:t>
            </a:r>
            <a:r>
              <a:rPr lang="vi-VN" sz="2000" dirty="0"/>
              <a:t> là dữ liệu đầu vào so sánh với các </a:t>
            </a:r>
            <a:r>
              <a:rPr lang="vi-VN" sz="2000" dirty="0" err="1"/>
              <a:t>vector</a:t>
            </a:r>
            <a:r>
              <a:rPr lang="vi-VN" sz="2000" dirty="0"/>
              <a:t> còn lại trong tập dữ liệu.</a:t>
            </a:r>
            <a:endParaRPr lang="en-US" sz="2000" dirty="0"/>
          </a:p>
          <a:p>
            <a:pPr marL="0" indent="0">
              <a:buNone/>
            </a:pPr>
            <a:endParaRPr lang="vi-VN" sz="2000" dirty="0"/>
          </a:p>
          <a:p>
            <a:r>
              <a:rPr lang="vi-VN" sz="2000" dirty="0"/>
              <a:t>Công thức:</a:t>
            </a:r>
          </a:p>
          <a:p>
            <a:pPr marL="0" indent="0">
              <a:buNone/>
            </a:pPr>
            <a:endParaRPr lang="vi-VN" sz="2400" dirty="0"/>
          </a:p>
          <a:p>
            <a:pPr marL="0" indent="0">
              <a:buNone/>
            </a:pPr>
            <a:endParaRPr lang="vi-VN" sz="2400" dirty="0"/>
          </a:p>
          <a:p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BDDE3-704F-9372-70C9-61D7FB51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023DA3-14A6-7B6D-871B-20E6D5BE7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785" y="3676842"/>
            <a:ext cx="2379830" cy="10050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EA1588-0BF4-5957-8D4B-8D78901BA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442" y="4684088"/>
            <a:ext cx="2460697" cy="1166809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B920585-445D-FBCD-4065-372C073D9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498264"/>
              </p:ext>
            </p:extLst>
          </p:nvPr>
        </p:nvGraphicFramePr>
        <p:xfrm>
          <a:off x="6293751" y="3696084"/>
          <a:ext cx="57255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93">
                  <a:extLst>
                    <a:ext uri="{9D8B030D-6E8A-4147-A177-3AD203B41FA5}">
                      <a16:colId xmlns:a16="http://schemas.microsoft.com/office/drawing/2014/main" val="3861109289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454378587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3454357765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3112594028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1769945097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4006561678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156584572"/>
                    </a:ext>
                  </a:extLst>
                </a:gridCol>
              </a:tblGrid>
              <a:tr h="276264">
                <a:tc>
                  <a:txBody>
                    <a:bodyPr/>
                    <a:lstStyle/>
                    <a:p>
                      <a:r>
                        <a:rPr lang="vi-VN" dirty="0"/>
                        <a:t>Ngưỡng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758609"/>
                  </a:ext>
                </a:extLst>
              </a:tr>
              <a:tr h="276264">
                <a:tc>
                  <a:txBody>
                    <a:bodyPr/>
                    <a:lstStyle/>
                    <a:p>
                      <a:r>
                        <a:rPr lang="vi-VN" dirty="0"/>
                        <a:t>TPR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943319"/>
                  </a:ext>
                </a:extLst>
              </a:tr>
              <a:tr h="276264">
                <a:tc>
                  <a:txBody>
                    <a:bodyPr/>
                    <a:lstStyle/>
                    <a:p>
                      <a:r>
                        <a:rPr lang="vi-VN" dirty="0"/>
                        <a:t>FPR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0.84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4981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DD15A28-77F1-9E4D-0A86-C7A8A9824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836471"/>
              </p:ext>
            </p:extLst>
          </p:nvPr>
        </p:nvGraphicFramePr>
        <p:xfrm>
          <a:off x="6293751" y="4936103"/>
          <a:ext cx="513571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93">
                  <a:extLst>
                    <a:ext uri="{9D8B030D-6E8A-4147-A177-3AD203B41FA5}">
                      <a16:colId xmlns:a16="http://schemas.microsoft.com/office/drawing/2014/main" val="3861109289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454378587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3454357765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3112594028"/>
                    </a:ext>
                  </a:extLst>
                </a:gridCol>
                <a:gridCol w="763171">
                  <a:extLst>
                    <a:ext uri="{9D8B030D-6E8A-4147-A177-3AD203B41FA5}">
                      <a16:colId xmlns:a16="http://schemas.microsoft.com/office/drawing/2014/main" val="1769945097"/>
                    </a:ext>
                  </a:extLst>
                </a:gridCol>
                <a:gridCol w="936538">
                  <a:extLst>
                    <a:ext uri="{9D8B030D-6E8A-4147-A177-3AD203B41FA5}">
                      <a16:colId xmlns:a16="http://schemas.microsoft.com/office/drawing/2014/main" val="4006561678"/>
                    </a:ext>
                  </a:extLst>
                </a:gridCol>
              </a:tblGrid>
              <a:tr h="276264">
                <a:tc>
                  <a:txBody>
                    <a:bodyPr/>
                    <a:lstStyle/>
                    <a:p>
                      <a:r>
                        <a:rPr lang="vi-VN" dirty="0"/>
                        <a:t>Ngưỡng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1.0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758609"/>
                  </a:ext>
                </a:extLst>
              </a:tr>
              <a:tr h="276264">
                <a:tc>
                  <a:txBody>
                    <a:bodyPr/>
                    <a:lstStyle/>
                    <a:p>
                      <a:r>
                        <a:rPr lang="vi-VN" dirty="0"/>
                        <a:t>TPR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0.83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0.0015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943319"/>
                  </a:ext>
                </a:extLst>
              </a:tr>
              <a:tr h="276264">
                <a:tc>
                  <a:txBody>
                    <a:bodyPr/>
                    <a:lstStyle/>
                    <a:p>
                      <a:r>
                        <a:rPr lang="vi-VN" dirty="0"/>
                        <a:t>FPR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0.008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dirty="0"/>
                        <a:t>0.0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4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882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BBED4-D194-776A-50AF-2DDF143B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9537-E165-F386-DD8F-CF0A745B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3" y="110338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E1580-E2E3-016F-8C45-463966AD4D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4" y="913388"/>
            <a:ext cx="5103110" cy="2515612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Thực nghiệm đầu vào không nhiễu:</a:t>
            </a:r>
          </a:p>
          <a:p>
            <a:r>
              <a:rPr lang="vi-VN" sz="2000" dirty="0">
                <a:solidFill>
                  <a:srgbClr val="000000"/>
                </a:solidFill>
              </a:rPr>
              <a:t> Phép đo AUC (</a:t>
            </a:r>
            <a:r>
              <a:rPr lang="vi-VN" sz="2000" dirty="0" err="1">
                <a:solidFill>
                  <a:srgbClr val="000000"/>
                </a:solidFill>
              </a:rPr>
              <a:t>Area</a:t>
            </a:r>
            <a:r>
              <a:rPr lang="vi-VN" sz="2000" dirty="0">
                <a:solidFill>
                  <a:srgbClr val="000000"/>
                </a:solidFill>
              </a:rPr>
              <a:t> </a:t>
            </a:r>
            <a:r>
              <a:rPr lang="vi-VN" sz="2000" dirty="0" err="1">
                <a:solidFill>
                  <a:srgbClr val="000000"/>
                </a:solidFill>
              </a:rPr>
              <a:t>Under</a:t>
            </a:r>
            <a:r>
              <a:rPr lang="vi-VN" sz="2000" dirty="0">
                <a:solidFill>
                  <a:srgbClr val="000000"/>
                </a:solidFill>
              </a:rPr>
              <a:t> the </a:t>
            </a:r>
            <a:r>
              <a:rPr lang="vi-VN" sz="2000" dirty="0" err="1">
                <a:solidFill>
                  <a:srgbClr val="000000"/>
                </a:solidFill>
              </a:rPr>
              <a:t>Curve</a:t>
            </a:r>
            <a:r>
              <a:rPr lang="vi-VN" sz="2000" dirty="0">
                <a:solidFill>
                  <a:srgbClr val="000000"/>
                </a:solidFill>
              </a:rPr>
              <a:t> - Diện tích dưới đường cong ROC) được sử dụng để đánh giá tổng thể hiệu suất của mô hình phân loại. </a:t>
            </a:r>
            <a:endParaRPr lang="vi-VN" sz="2000" dirty="0"/>
          </a:p>
          <a:p>
            <a:r>
              <a:rPr lang="vi-VN" sz="2000" dirty="0"/>
              <a:t>Tính toán AUC bằng phương pháp </a:t>
            </a:r>
            <a:r>
              <a:rPr lang="vi-VN" sz="2000" dirty="0" err="1"/>
              <a:t>trapezoidal</a:t>
            </a:r>
            <a:r>
              <a:rPr lang="vi-VN" sz="2000" dirty="0"/>
              <a:t> (phương pháp hình thang):</a:t>
            </a:r>
          </a:p>
          <a:p>
            <a:pPr marL="0" indent="0">
              <a:buNone/>
            </a:pPr>
            <a:endParaRPr lang="vi-VN" sz="2400" dirty="0"/>
          </a:p>
          <a:p>
            <a:pPr marL="0" indent="0">
              <a:buNone/>
            </a:pPr>
            <a:endParaRPr lang="vi-VN" sz="2400" dirty="0"/>
          </a:p>
          <a:p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C9416-6328-4096-9B0F-E3E35ADE4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E5932C4-12F8-FF83-E286-DEF3323E1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567" y="1217145"/>
            <a:ext cx="5961145" cy="464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146198-C01E-CFFB-A0FF-40F457D45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08" y="3378343"/>
            <a:ext cx="5011306" cy="8352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7266A4-0BC2-0FCE-FC03-E9AAE573AB0E}"/>
              </a:ext>
            </a:extLst>
          </p:cNvPr>
          <p:cNvSpPr txBox="1"/>
          <p:nvPr/>
        </p:nvSpPr>
        <p:spPr>
          <a:xfrm>
            <a:off x="491613" y="4313396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Thu được AUC = </a:t>
            </a:r>
            <a:r>
              <a:rPr lang="en-US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0.795</a:t>
            </a:r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</a:p>
          <a:p>
            <a:pPr marL="0" indent="0">
              <a:buNone/>
            </a:pPr>
            <a:endParaRPr lang="vi-VN" sz="2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indent="0">
              <a:buNone/>
            </a:pPr>
            <a:r>
              <a:rPr lang="vi-VN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Đánh giá: mô hình có thể được coi là có hiệu suất tốt,  đáng tin cậy trong việc phân loại và dự đoán trong các ứng dụng thực tế.</a:t>
            </a:r>
          </a:p>
        </p:txBody>
      </p:sp>
    </p:spTree>
    <p:extLst>
      <p:ext uri="{BB962C8B-B14F-4D97-AF65-F5344CB8AC3E}">
        <p14:creationId xmlns:p14="http://schemas.microsoft.com/office/powerpoint/2010/main" val="3934956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12963-E98E-F58C-0EE7-E6D567FD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2D663-8053-1519-C62E-6C11696F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EB4DB-77B0-BF4A-D43F-D90322F9D7C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3" y="913387"/>
            <a:ext cx="11215497" cy="165948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Thực nghiệm đầu vào chứa nhiễu:</a:t>
            </a:r>
          </a:p>
          <a:p>
            <a:r>
              <a:rPr lang="en-US" sz="2000" dirty="0">
                <a:latin typeface="Lato"/>
                <a:ea typeface="Lato"/>
                <a:cs typeface="Lato"/>
              </a:rPr>
              <a:t>16000_pcm_speeches (</a:t>
            </a:r>
            <a:r>
              <a:rPr lang="vi-VN" sz="2000" dirty="0">
                <a:latin typeface="Lato"/>
                <a:ea typeface="Lato"/>
                <a:cs typeface="Lato"/>
              </a:rPr>
              <a:t>Nguồn: </a:t>
            </a:r>
            <a:r>
              <a:rPr lang="vi-VN" sz="2000" dirty="0">
                <a:latin typeface="Lato"/>
                <a:ea typeface="Lato"/>
                <a:cs typeface="Lato"/>
                <a:hlinkClick r:id="rId2"/>
              </a:rPr>
              <a:t>https://www.kaggle.com/datasets/kongaevans/speaker-recognition-dataset</a:t>
            </a:r>
            <a:r>
              <a:rPr lang="vi-VN" sz="2000" dirty="0">
                <a:latin typeface="Lato"/>
                <a:ea typeface="Lato"/>
                <a:cs typeface="Lato"/>
              </a:rPr>
              <a:t>)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 Bao gồm các</a:t>
            </a:r>
            <a:r>
              <a:rPr lang="vi-VN" sz="2000" dirty="0"/>
              <a:t> tín hiệu âm thanh được xem như các nhiễu thường thấy như tiếng của các phương tiện giao thông và thiết bị gia dụng hoạt động</a:t>
            </a:r>
            <a:endParaRPr lang="vi-VN" sz="2000" dirty="0">
              <a:latin typeface="Lato"/>
              <a:ea typeface="Lato"/>
              <a:cs typeface="Lato"/>
            </a:endParaRPr>
          </a:p>
          <a:p>
            <a:r>
              <a:rPr lang="vi-VN" sz="2000" dirty="0">
                <a:latin typeface="Lato"/>
                <a:ea typeface="Lato"/>
                <a:cs typeface="Lato"/>
              </a:rPr>
              <a:t>Thêm thành phần nhiễu:</a:t>
            </a:r>
          </a:p>
          <a:p>
            <a:endParaRPr lang="vi-VN" sz="2400" dirty="0">
              <a:latin typeface="Lato"/>
              <a:ea typeface="Lato"/>
              <a:cs typeface="Lato"/>
            </a:endParaRPr>
          </a:p>
          <a:p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900428-B2CF-86E5-7DE8-76F21F42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7050E-403F-72E6-B2FB-C96B8F6664EA}"/>
              </a:ext>
            </a:extLst>
          </p:cNvPr>
          <p:cNvSpPr txBox="1"/>
          <p:nvPr/>
        </p:nvSpPr>
        <p:spPr>
          <a:xfrm>
            <a:off x="863992" y="3584088"/>
            <a:ext cx="105991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combined_wave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 = wave + </a:t>
            </a:r>
            <a:r>
              <a:rPr lang="en-US" sz="2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noise_wave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</a:rPr>
              <a:t> * </a:t>
            </a:r>
            <a:r>
              <a:rPr lang="en-US" sz="2800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noise_factor</a:t>
            </a:r>
            <a:endParaRPr lang="en-US" sz="2800" b="1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8E5349-D46D-A323-D676-BE9C60850F74}"/>
              </a:ext>
            </a:extLst>
          </p:cNvPr>
          <p:cNvSpPr/>
          <p:nvPr/>
        </p:nvSpPr>
        <p:spPr>
          <a:xfrm>
            <a:off x="778779" y="3429000"/>
            <a:ext cx="10599173" cy="82998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311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3DA8D-8043-89FD-6C94-E52691D6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E09A-2625-3744-976F-3DC9C668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3" y="137003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74C0-BDCD-7783-E5AA-D340B1B20A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3" y="913387"/>
            <a:ext cx="11215497" cy="104749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Thực nghiệm với đầu vào chứa nhiễu.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Noise_factor = 0.2</a:t>
            </a:r>
          </a:p>
          <a:p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75381-F9C6-25D7-D699-EE19D3F88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8D9FB7E-3598-B8D4-D37D-8020877F7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104" y="1341755"/>
            <a:ext cx="8923600" cy="490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251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B908-91A1-0EFC-254B-9DB73380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A54B-A77E-EF58-04E7-AD9381100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03" y="119417"/>
            <a:ext cx="11514528" cy="436098"/>
          </a:xfrm>
        </p:spPr>
        <p:txBody>
          <a:bodyPr lIns="91440" tIns="45720" rIns="91440" bIns="45720" anchor="t"/>
          <a:lstStyle/>
          <a:p>
            <a:r>
              <a:rPr lang="vi-VN" sz="3200" dirty="0">
                <a:latin typeface="Lato"/>
                <a:ea typeface="Lato"/>
                <a:cs typeface="Lato"/>
              </a:rPr>
              <a:t>4</a:t>
            </a:r>
            <a:r>
              <a:rPr lang="en-US" sz="3200" dirty="0">
                <a:latin typeface="Lato"/>
                <a:ea typeface="Lato"/>
                <a:cs typeface="Lato"/>
              </a:rPr>
              <a:t>: </a:t>
            </a:r>
            <a:r>
              <a:rPr lang="vi-VN" sz="3200" dirty="0">
                <a:latin typeface="Lato"/>
                <a:ea typeface="Lato"/>
                <a:cs typeface="Lato"/>
              </a:rPr>
              <a:t>ĐÁNH GIÁ THỰC NGHIỆM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E7C5-58BD-1A8E-15E3-B75123A975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304" y="913387"/>
            <a:ext cx="5757264" cy="5143284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vi-VN" sz="2400" dirty="0">
                <a:latin typeface="Lato"/>
                <a:ea typeface="Lato"/>
                <a:cs typeface="Lato"/>
              </a:rPr>
              <a:t>Thực nghiệm với đầu vào chứa nhiễu.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Kiểm thử tại ngưỡng tối thiểu là 0.8.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Tăng dẫn tỉ lệ nhiễu trong mẫu thử từ 0.0 đến 0.8.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Nhận dạng đúng với các dự đoán đúng tên người nói của mẫu thử và giá trị độ tương tự </a:t>
            </a:r>
            <a:r>
              <a:rPr lang="vi-VN" sz="2000" dirty="0" err="1">
                <a:latin typeface="Lato"/>
                <a:ea typeface="Lato"/>
                <a:cs typeface="Lato"/>
              </a:rPr>
              <a:t>cosine</a:t>
            </a:r>
            <a:r>
              <a:rPr lang="vi-VN" sz="2000" dirty="0">
                <a:latin typeface="Lato"/>
                <a:ea typeface="Lato"/>
                <a:cs typeface="Lato"/>
              </a:rPr>
              <a:t> &gt; ngưỡng tối thiểu.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Số lượng mẫu thử nhận dạng đúng giảm mạnh so với trường hợp mẫu thử nguyên bản không chứa nhiễu và giảm dần khi tăng tỉ lệ nhiễu.</a:t>
            </a:r>
          </a:p>
          <a:p>
            <a:endParaRPr lang="vi-VN" sz="2000" dirty="0">
              <a:latin typeface="Lato"/>
              <a:ea typeface="Lato"/>
              <a:cs typeface="Lato"/>
            </a:endParaRPr>
          </a:p>
          <a:p>
            <a:pPr marL="0" indent="0">
              <a:buNone/>
            </a:pPr>
            <a:r>
              <a:rPr lang="vi-VN" sz="2000" dirty="0">
                <a:latin typeface="Lato"/>
                <a:ea typeface="Lato"/>
                <a:cs typeface="Lato"/>
              </a:rPr>
              <a:t>Đánh giá: Mô hình chịu tác động lớn bởi nhiễu môi trường. Là một thành phần cần được xử lý trước khi nhận dạng.</a:t>
            </a:r>
            <a:endParaRPr lang="vi-VN" sz="2400" dirty="0">
              <a:latin typeface="Lato"/>
              <a:ea typeface="Lato"/>
              <a:cs typeface="Lato"/>
            </a:endParaRPr>
          </a:p>
          <a:p>
            <a:endParaRPr lang="vi-VN" sz="24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0868B-A8FF-F3CD-48E9-639E0B9A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66669-F158-31C8-FAB0-D956352F0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567" y="1766526"/>
            <a:ext cx="5866581" cy="3992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419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140B-3507-7284-71CD-1F5FF607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8582-821B-D565-225E-AD3DD455E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/>
          <a:lstStyle/>
          <a:p>
            <a:r>
              <a:rPr lang="en-US" sz="3200" dirty="0">
                <a:latin typeface="Lato"/>
                <a:ea typeface="Lato"/>
                <a:cs typeface="Lato"/>
              </a:rPr>
              <a:t>5: </a:t>
            </a:r>
            <a:r>
              <a:rPr lang="vi-VN" sz="3200" dirty="0">
                <a:latin typeface="Lato"/>
                <a:ea typeface="Lato"/>
                <a:cs typeface="Lato"/>
              </a:rPr>
              <a:t>KẾT LUẬN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BA17-EA33-41B7-B2CA-2823F91860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191654"/>
            <a:ext cx="11215497" cy="4474692"/>
          </a:xfrm>
        </p:spPr>
        <p:txBody>
          <a:bodyPr lIns="91440" tIns="45720" rIns="91440" bIns="45720" anchor="t"/>
          <a:lstStyle/>
          <a:p>
            <a:r>
              <a:rPr lang="vi-VN" sz="2000" dirty="0">
                <a:latin typeface="Lato"/>
                <a:ea typeface="Lato"/>
                <a:cs typeface="Lato"/>
              </a:rPr>
              <a:t>Đồ án đã áp dụng mô hình mạng </a:t>
            </a:r>
            <a:r>
              <a:rPr lang="vi-VN" sz="2000" dirty="0" err="1">
                <a:latin typeface="Lato"/>
                <a:ea typeface="Lato"/>
                <a:cs typeface="Lato"/>
              </a:rPr>
              <a:t>neural</a:t>
            </a:r>
            <a:r>
              <a:rPr lang="vi-VN" sz="2000" dirty="0">
                <a:latin typeface="Lato"/>
                <a:ea typeface="Lato"/>
                <a:cs typeface="Lato"/>
              </a:rPr>
              <a:t> tích chập để giải quyết bài toán nhận dạng người nói.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Đề xuất và thực nghiệm nhằm chứng minh tính khả thi của quá trình trích xuất </a:t>
            </a:r>
            <a:r>
              <a:rPr lang="vi-VN" sz="2000" dirty="0" err="1">
                <a:latin typeface="Lato"/>
                <a:ea typeface="Lato"/>
                <a:cs typeface="Lato"/>
              </a:rPr>
              <a:t>vector</a:t>
            </a:r>
            <a:r>
              <a:rPr lang="vi-VN" sz="2000" dirty="0">
                <a:latin typeface="Lato"/>
                <a:ea typeface="Lato"/>
                <a:cs typeface="Lato"/>
              </a:rPr>
              <a:t> đặc trưng thông qua mô hình mạng </a:t>
            </a:r>
            <a:r>
              <a:rPr lang="vi-VN" sz="2000" dirty="0" err="1">
                <a:latin typeface="Lato"/>
                <a:ea typeface="Lato"/>
                <a:cs typeface="Lato"/>
              </a:rPr>
              <a:t>neural</a:t>
            </a:r>
            <a:r>
              <a:rPr lang="vi-VN" sz="2000" dirty="0">
                <a:latin typeface="Lato"/>
                <a:ea typeface="Lato"/>
                <a:cs typeface="Lato"/>
              </a:rPr>
              <a:t>.</a:t>
            </a:r>
          </a:p>
          <a:p>
            <a:r>
              <a:rPr lang="vi-VN" sz="2000" dirty="0">
                <a:latin typeface="Lato"/>
                <a:ea typeface="Lato"/>
                <a:cs typeface="Lato"/>
              </a:rPr>
              <a:t>Đánh giá mức độ ảnh hưởng của nhiễu môi trường tới độ chính xác của quá trình nhận dạng.</a:t>
            </a:r>
          </a:p>
          <a:p>
            <a:pPr marL="0" indent="0">
              <a:buNone/>
            </a:pPr>
            <a:endParaRPr lang="vi-VN" sz="2000" dirty="0">
              <a:latin typeface="Lato"/>
              <a:ea typeface="Lato"/>
              <a:cs typeface="Lato"/>
            </a:endParaRPr>
          </a:p>
          <a:p>
            <a:pPr marL="0" indent="0">
              <a:buNone/>
            </a:pPr>
            <a:r>
              <a:rPr lang="vi-VN" sz="2400" b="1" dirty="0"/>
              <a:t>Hướng phát triển tương lai</a:t>
            </a:r>
          </a:p>
          <a:p>
            <a:r>
              <a:rPr lang="vi-VN" sz="2000" dirty="0"/>
              <a:t>Xây dựng và thử nghiệm với các kiến trúc mô hình khác, nâng cao hiệu quả trích xuất đặc trưng.</a:t>
            </a:r>
          </a:p>
          <a:p>
            <a:r>
              <a:rPr lang="vi-VN" sz="2000" dirty="0"/>
              <a:t>Cải thiện quá trình tiền xử lý dữ liệu giọng nói nhằm bám sát yêu cầu thực tế của hệ thống.</a:t>
            </a:r>
          </a:p>
          <a:p>
            <a:r>
              <a:rPr lang="vi-VN" sz="2000" dirty="0"/>
              <a:t>Cải thiện hệ thống cho phù hợp với môi trường thực tế như triển khai trên các thiết bị di động, thiết bị nhúng.</a:t>
            </a:r>
          </a:p>
          <a:p>
            <a:pPr marL="0" indent="0">
              <a:buNone/>
            </a:pPr>
            <a:endParaRPr lang="vi-VN" sz="2000" dirty="0"/>
          </a:p>
          <a:p>
            <a:endParaRPr lang="vi-VN" sz="2000" dirty="0">
              <a:latin typeface="Lato"/>
              <a:ea typeface="Lato"/>
              <a:cs typeface="La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6F2D1-1115-2582-5A05-832CD9A05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C316FA-151E-4EDB-9E09-98DAB3D0971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4D971-5E4A-4DCB-9925-F7DA6878D4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8E78E3-0A98-4D61-9B64-F38933067CC3}">
  <ds:schemaRefs>
    <ds:schemaRef ds:uri="757826ba-dfa3-48aa-98b2-1e988427fee5"/>
    <ds:schemaRef ds:uri="e4770848-7955-4ec6-9f06-ace3904740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3866</TotalTime>
  <Words>1664</Words>
  <Application>Microsoft Office PowerPoint</Application>
  <PresentationFormat>Widescreen</PresentationFormat>
  <Paragraphs>237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Cambria Math</vt:lpstr>
      <vt:lpstr>Courier New</vt:lpstr>
      <vt:lpstr>Lato</vt:lpstr>
      <vt:lpstr>Office Theme</vt:lpstr>
      <vt:lpstr>PowerPoint Presentation</vt:lpstr>
      <vt:lpstr>PowerPoint Presentation</vt:lpstr>
      <vt:lpstr>PowerPoint Presentation</vt:lpstr>
      <vt:lpstr>1: GIỚI THIỆU ĐỀ TÀI</vt:lpstr>
      <vt:lpstr>1: GIỚI THIỆU ĐỀ TÀI</vt:lpstr>
      <vt:lpstr>2: CƠ SỞ LÝ THUYẾT</vt:lpstr>
      <vt:lpstr>2: CƠ SỞ LÝ THUYẾT</vt:lpstr>
      <vt:lpstr>2: CƠ SỞ LÝ THUYẾT</vt:lpstr>
      <vt:lpstr>2: CƠ SỞ LÝ THUYẾT</vt:lpstr>
      <vt:lpstr>2: CƠ SỞ LÝ THUYẾT</vt:lpstr>
      <vt:lpstr>2: CƠ SỞ LÝ THUYẾT</vt:lpstr>
      <vt:lpstr>3: PHƯƠNG PHÁP ĐỀ XUẤT</vt:lpstr>
      <vt:lpstr>3: PHƯƠNG PHÁP ĐỀ XUẤT</vt:lpstr>
      <vt:lpstr>3: PHƯƠNG PHÁP ĐỀ XUẤT</vt:lpstr>
      <vt:lpstr>3: PHƯƠNG PHÁP ĐỀ XUẤT</vt:lpstr>
      <vt:lpstr>3: PHƯƠNG PHÁP ĐỀ XUẤT</vt:lpstr>
      <vt:lpstr>3: PHƯƠNG PHÁP ĐỀ XUẤT</vt:lpstr>
      <vt:lpstr>4: ĐÁNH GIÁ THỰC NGHIỆM</vt:lpstr>
      <vt:lpstr>4: ĐÁNH GIÁ THỰC NGHIỆM</vt:lpstr>
      <vt:lpstr>4: ĐÁNH GIÁ THỰC NGHIỆM</vt:lpstr>
      <vt:lpstr>4: ĐÁNH GIÁ THỰC NGHIỆM</vt:lpstr>
      <vt:lpstr>4: ĐÁNH GIÁ THỰC NGHIỆM</vt:lpstr>
      <vt:lpstr>4: ĐÁNH GIÁ THỰC NGHIỆM</vt:lpstr>
      <vt:lpstr>4: ĐÁNH GIÁ THỰC NGHIỆM</vt:lpstr>
      <vt:lpstr>4: ĐÁNH GIÁ THỰC NGHIỆM</vt:lpstr>
      <vt:lpstr>5: KẾT LUẬN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Giap Quang Trung 20204797</cp:lastModifiedBy>
  <cp:revision>26</cp:revision>
  <dcterms:created xsi:type="dcterms:W3CDTF">2021-05-28T04:32:29Z</dcterms:created>
  <dcterms:modified xsi:type="dcterms:W3CDTF">2025-07-09T11:47:24Z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</Properties>
</file>